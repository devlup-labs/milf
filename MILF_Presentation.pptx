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localhost:5173" TargetMode="External"/><Relationship Id="rId4" Type="http://schemas.openxmlformats.org/officeDocument/2006/relationships/hyperlink" Target="http://localhost:8080" TargetMode="External"/><Relationship Id="rId5"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 Id="rId4" Type="http://schemas.openxmlformats.org/officeDocument/2006/relationships/image" Target="../media/image2.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 Id="rId4" Type="http://schemas.openxmlformats.org/officeDocument/2006/relationships/image" Target="../media/image4.pn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 Id="rId4" Type="http://schemas.openxmlformats.org/officeDocument/2006/relationships/image" Target="../media/image6.png"/><Relationship Id="rId5"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 Id="rId4" Type="http://schemas.openxmlformats.org/officeDocument/2006/relationships/image" Target="../media/image8.png"/><Relationship Id="rId5"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5173" TargetMode="External"/><Relationship Id="rId3" Type="http://schemas.openxmlformats.org/officeDocument/2006/relationships/slide" Target="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058400" cy="640080"/>
          </a:xfrm>
          <a:prstGeom prst="rect">
            <a:avLst/>
          </a:prstGeom>
          <a:noFill/>
        </p:spPr>
        <p:txBody>
          <a:bodyPr wrap="square">
            <a:spAutoFit/>
          </a:bodyPr>
          <a:lstStyle/>
          <a:p>
            <a:pPr>
              <a:defRPr sz="7200" b="1">
                <a:solidFill>
                  <a:srgbClr val="3B82F6"/>
                </a:solidFill>
                <a:latin typeface="Calibri"/>
              </a:defRPr>
            </a:pPr>
            <a:r>
              <a:t>MILF</a:t>
            </a:r>
          </a:p>
        </p:txBody>
      </p:sp>
      <p:sp>
        <p:nvSpPr>
          <p:cNvPr id="5" name="TextBox 4"/>
          <p:cNvSpPr txBox="1"/>
          <p:nvPr/>
        </p:nvSpPr>
        <p:spPr>
          <a:xfrm>
            <a:off x="914400" y="2377440"/>
            <a:ext cx="10058400" cy="411480"/>
          </a:xfrm>
          <a:prstGeom prst="rect">
            <a:avLst/>
          </a:prstGeom>
          <a:noFill/>
        </p:spPr>
        <p:txBody>
          <a:bodyPr wrap="square">
            <a:spAutoFit/>
          </a:bodyPr>
          <a:lstStyle/>
          <a:p>
            <a:pPr>
              <a:defRPr sz="2600">
                <a:solidFill>
                  <a:srgbClr val="1E293B"/>
                </a:solidFill>
                <a:latin typeface="Calibri"/>
              </a:defRPr>
            </a:pPr>
            <a:r>
              <a:t>Mobile Infra for Lambdas and Files</a:t>
            </a:r>
          </a:p>
        </p:txBody>
      </p:sp>
      <p:sp>
        <p:nvSpPr>
          <p:cNvPr id="6" name="TextBox 5"/>
          <p:cNvSpPr txBox="1"/>
          <p:nvPr/>
        </p:nvSpPr>
        <p:spPr>
          <a:xfrm>
            <a:off x="914400" y="3291840"/>
            <a:ext cx="10515600" cy="4572000"/>
          </a:xfrm>
          <a:prstGeom prst="rect">
            <a:avLst/>
          </a:prstGeom>
          <a:noFill/>
        </p:spPr>
        <p:txBody>
          <a:bodyPr wrap="square">
            <a:spAutoFit/>
          </a:bodyPr>
          <a:lstStyle/>
          <a:p>
            <a:pPr>
              <a:lnSpc>
                <a:spcPct val="112000"/>
              </a:lnSpc>
              <a:spcAft>
                <a:spcPts val="500"/>
              </a:spcAft>
              <a:defRPr sz="1600">
                <a:solidFill>
                  <a:srgbClr val="475569"/>
                </a:solidFill>
                <a:latin typeface="Calibri"/>
              </a:defRPr>
            </a:pPr>
            <a:r>
              <a:t>A Distributed Serverless Platform Leveraging Consumer Edge Devices</a:t>
            </a:r>
          </a:p>
          <a:p>
            <a:pPr>
              <a:lnSpc>
                <a:spcPct val="112000"/>
              </a:lnSpc>
              <a:spcAft>
                <a:spcPts val="500"/>
              </a:spcAft>
              <a:defRPr sz="1600">
                <a:solidFill>
                  <a:srgbClr val="475569"/>
                </a:solidFill>
                <a:latin typeface="Calibri"/>
              </a:defRPr>
            </a:pPr>
            <a:r>
              <a:t>for Secure WebAssembly-Based Compute</a:t>
            </a:r>
          </a:p>
          <a:p>
            <a:pPr>
              <a:lnSpc>
                <a:spcPct val="112000"/>
              </a:lnSpc>
              <a:spcAft>
                <a:spcPts val="500"/>
              </a:spcAft>
              <a:defRPr sz="1600">
                <a:solidFill>
                  <a:srgbClr val="475569"/>
                </a:solidFill>
                <a:latin typeface="Calibri"/>
              </a:defRPr>
            </a:pPr>
          </a:p>
          <a:p>
            <a:pPr>
              <a:lnSpc>
                <a:spcPct val="112000"/>
              </a:lnSpc>
              <a:spcAft>
                <a:spcPts val="500"/>
              </a:spcAft>
              <a:defRPr sz="1600">
                <a:solidFill>
                  <a:srgbClr val="475569"/>
                </a:solidFill>
                <a:latin typeface="Calibri"/>
              </a:defRPr>
            </a:pPr>
            <a:r>
              <a:t>Final Evaluation · DevLup Labs · April 2026</a:t>
            </a:r>
          </a:p>
        </p:txBody>
      </p:sp>
      <p:sp>
        <p:nvSpPr>
          <p:cNvPr id="7" name="Oval 6"/>
          <p:cNvSpPr/>
          <p:nvPr/>
        </p:nvSpPr>
        <p:spPr>
          <a:xfrm>
            <a:off x="914400" y="4937760"/>
            <a:ext cx="256032" cy="256032"/>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71600" y="4937760"/>
            <a:ext cx="256032" cy="256032"/>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828800" y="4937760"/>
            <a:ext cx="256032" cy="25603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286000" y="4937760"/>
            <a:ext cx="256032" cy="256032"/>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743200" y="4937760"/>
            <a:ext cx="256032" cy="25603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47104" y="1060704"/>
            <a:ext cx="5102352" cy="3273552"/>
          </a:xfrm>
          <a:prstGeom prst="round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ashboard.png"/>
          <p:cNvPicPr>
            <a:picLocks noChangeAspect="1"/>
          </p:cNvPicPr>
          <p:nvPr/>
        </p:nvPicPr>
        <p:blipFill>
          <a:blip r:embed="rId2"/>
          <a:stretch>
            <a:fillRect/>
          </a:stretch>
        </p:blipFill>
        <p:spPr>
          <a:xfrm>
            <a:off x="6583680" y="1097280"/>
            <a:ext cx="5029200" cy="3200400"/>
          </a:xfrm>
          <a:prstGeom prst="rect">
            <a:avLst/>
          </a:prstGeom>
        </p:spPr>
      </p:pic>
      <p:sp>
        <p:nvSpPr>
          <p:cNvPr id="14" name="Rounded Rectangle 13">
            <a:hlinkClick r:id="rId3"/>
          </p:cNvPr>
          <p:cNvSpPr/>
          <p:nvPr/>
        </p:nvSpPr>
        <p:spPr>
          <a:xfrm>
            <a:off x="6583680" y="4434840"/>
            <a:ext cx="20116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Open Dashboard</a:t>
            </a:r>
          </a:p>
        </p:txBody>
      </p:sp>
      <p:sp>
        <p:nvSpPr>
          <p:cNvPr id="15" name="Rounded Rectangle 14">
            <a:hlinkClick r:id="rId4"/>
          </p:cNvPr>
          <p:cNvSpPr/>
          <p:nvPr/>
        </p:nvSpPr>
        <p:spPr>
          <a:xfrm>
            <a:off x="8732520" y="4434840"/>
            <a:ext cx="1463040" cy="4114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Open API</a:t>
            </a:r>
          </a:p>
        </p:txBody>
      </p:sp>
      <p:sp>
        <p:nvSpPr>
          <p:cNvPr id="16" name="TextBox 15"/>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17" name="TextBox 16">
            <a:hlinkClick r:id="rId3"/>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18" name="TextBox 17">
            <a:hlinkClick action="ppaction://hlinksldjump" r:id="rId5"/>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19" name="TextBox 18"/>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1/22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2/22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Problem Statement</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Why current cloud infrastructure fails for the next generation of workloads</a:t>
            </a:r>
          </a:p>
        </p:txBody>
      </p:sp>
      <p:sp>
        <p:nvSpPr>
          <p:cNvPr id="10" name="TextBox 9"/>
          <p:cNvSpPr txBox="1"/>
          <p:nvPr/>
        </p:nvSpPr>
        <p:spPr>
          <a:xfrm>
            <a:off x="731520" y="1554480"/>
            <a:ext cx="10515600" cy="4572000"/>
          </a:xfrm>
          <a:prstGeom prst="rect">
            <a:avLst/>
          </a:prstGeom>
          <a:noFill/>
        </p:spPr>
        <p:txBody>
          <a:bodyPr wrap="square">
            <a:spAutoFit/>
          </a:bodyPr>
          <a:lstStyle/>
          <a:p>
            <a:pPr>
              <a:spcAft>
                <a:spcPts val="700"/>
              </a:spcAft>
            </a:pPr>
            <a:r>
              <a:rPr sz="1400" b="1">
                <a:solidFill>
                  <a:srgbClr val="1E293B"/>
                </a:solidFill>
                <a:latin typeface="Calibri"/>
              </a:rPr>
              <a:t>• Centralized Cloud Overhead:  </a:t>
            </a:r>
            <a:r>
              <a:rPr sz="1200">
                <a:solidFill>
                  <a:srgbClr val="475569"/>
                </a:solidFill>
                <a:latin typeface="Calibri"/>
              </a:rPr>
              <a:t>Traditional cloud computing requires expensive proprietary data centers with high operational costs ($0.20/GB egress, $3.50/hr GPU instances) and deep vendor lock-in. Small teams are priced out.</a:t>
            </a:r>
          </a:p>
          <a:p>
            <a:pPr>
              <a:spcAft>
                <a:spcPts val="700"/>
              </a:spcAft>
            </a:pPr>
            <a:r>
              <a:rPr sz="1400" b="1">
                <a:solidFill>
                  <a:srgbClr val="1E293B"/>
                </a:solidFill>
                <a:latin typeface="Calibri"/>
              </a:rPr>
              <a:t>• Underutilized Edge Resources:  </a:t>
            </a:r>
            <a:r>
              <a:rPr sz="1200">
                <a:solidFill>
                  <a:srgbClr val="475569"/>
                </a:solidFill>
                <a:latin typeface="Calibri"/>
              </a:rPr>
              <a:t>6.8 billion smartphones globally — millions sit idle at any moment with unused CPU, 4-16 GB RAM, and storage. A globally distributed supercomputer gathering dust in people's pockets.</a:t>
            </a:r>
          </a:p>
          <a:p>
            <a:pPr>
              <a:spcAft>
                <a:spcPts val="700"/>
              </a:spcAft>
            </a:pPr>
            <a:r>
              <a:rPr sz="1400" b="1">
                <a:solidFill>
                  <a:srgbClr val="1E293B"/>
                </a:solidFill>
                <a:latin typeface="Calibri"/>
              </a:rPr>
              <a:t>• Serverless Cold-Start Bottlenecks:  </a:t>
            </a:r>
            <a:r>
              <a:rPr sz="1200">
                <a:solidFill>
                  <a:srgbClr val="475569"/>
                </a:solidFill>
                <a:latin typeface="Calibri"/>
              </a:rPr>
              <a:t>Traditional FaaS (AWS Lambda, Cloud Functions) use container-based deployments with cold-start delays of 100ms–5s, memory starvation issues, 15-min timeout limits, and expensive idle billing.</a:t>
            </a:r>
          </a:p>
          <a:p>
            <a:pPr>
              <a:spcAft>
                <a:spcPts val="700"/>
              </a:spcAft>
            </a:pPr>
            <a:r>
              <a:rPr sz="1400" b="1">
                <a:solidFill>
                  <a:srgbClr val="1E293B"/>
                </a:solidFill>
                <a:latin typeface="Calibri"/>
              </a:rPr>
              <a:t>• Untrusted Code on Edge:  </a:t>
            </a:r>
            <a:r>
              <a:rPr sz="1200">
                <a:solidFill>
                  <a:srgbClr val="475569"/>
                </a:solidFill>
                <a:latin typeface="Calibri"/>
              </a:rPr>
              <a:t>Running arbitrary code on consumer devices is historically dangerous. Docker containers are too heavy (100MB+ images) for mobile, and native execution risks host compromise without deep sandboxing.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3/22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Our Solution: Edge-Powered Serverless</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Harnessing idle consumer devices for distributed, secure compute via WebAssembly</a:t>
            </a:r>
          </a:p>
        </p:txBody>
      </p:sp>
      <p:sp>
        <p:nvSpPr>
          <p:cNvPr id="10" name="TextBox 9"/>
          <p:cNvSpPr txBox="1"/>
          <p:nvPr/>
        </p:nvSpPr>
        <p:spPr>
          <a:xfrm>
            <a:off x="731520" y="1554480"/>
            <a:ext cx="10515600" cy="4572000"/>
          </a:xfrm>
          <a:prstGeom prst="rect">
            <a:avLst/>
          </a:prstGeom>
          <a:noFill/>
        </p:spPr>
        <p:txBody>
          <a:bodyPr wrap="square">
            <a:spAutoFit/>
          </a:bodyPr>
          <a:lstStyle/>
          <a:p>
            <a:pPr>
              <a:spcAft>
                <a:spcPts val="700"/>
              </a:spcAft>
            </a:pPr>
            <a:r>
              <a:rPr sz="1400" b="1">
                <a:solidFill>
                  <a:srgbClr val="1E293B"/>
                </a:solidFill>
                <a:latin typeface="Calibri"/>
              </a:rPr>
              <a:t>• Core Idea:  </a:t>
            </a:r>
            <a:r>
              <a:rPr sz="1200">
                <a:solidFill>
                  <a:srgbClr val="475569"/>
                </a:solidFill>
                <a:latin typeface="Calibri"/>
              </a:rPr>
              <a:t>Build an infinitely scalable distributed computing network using consumer smartphones as compute nodes. Every idle device becomes part of a global compute mesh — like UBER for compute power, we don't own any servers.</a:t>
            </a:r>
          </a:p>
          <a:p>
            <a:pPr>
              <a:spcAft>
                <a:spcPts val="700"/>
              </a:spcAft>
            </a:pPr>
            <a:r>
              <a:rPr sz="1400" b="1">
                <a:solidFill>
                  <a:srgbClr val="1E293B"/>
                </a:solidFill>
                <a:latin typeface="Calibri"/>
              </a:rPr>
              <a:t>• WebAssembly as the Vehicle:  </a:t>
            </a:r>
            <a:r>
              <a:rPr sz="1200">
                <a:solidFill>
                  <a:srgbClr val="475569"/>
                </a:solidFill>
                <a:latin typeface="Calibri"/>
              </a:rPr>
              <a:t>WASM is the universal compilation target — code written in C, C++, Rust, or Go compiles to a portable, sandboxed binary (10-50 KB) that runs securely on any CPU architecture without Docker, VMs, or containers.</a:t>
            </a:r>
          </a:p>
          <a:p>
            <a:pPr>
              <a:spcAft>
                <a:spcPts val="700"/>
              </a:spcAft>
            </a:pPr>
            <a:r>
              <a:rPr sz="1400" b="1">
                <a:solidFill>
                  <a:srgbClr val="1E293B"/>
                </a:solidFill>
                <a:latin typeface="Calibri"/>
              </a:rPr>
              <a:t>• Pull-Based Architecture:  </a:t>
            </a:r>
            <a:r>
              <a:rPr sz="1200">
                <a:solidFill>
                  <a:srgbClr val="475569"/>
                </a:solidFill>
                <a:latin typeface="Calibri"/>
              </a:rPr>
              <a:t>Instead of 'Server-Pushes-to-Worker', devices pull tasks when ready (Bulletin Board model). The server maintains zero state about device connections. If the server crashes, devices simply reconnect. Inherently self-healing.</a:t>
            </a:r>
          </a:p>
          <a:p>
            <a:pPr>
              <a:spcAft>
                <a:spcPts val="700"/>
              </a:spcAft>
            </a:pPr>
            <a:r>
              <a:rPr sz="1400" b="1">
                <a:solidFill>
                  <a:srgbClr val="1E293B"/>
                </a:solidFill>
                <a:latin typeface="Calibri"/>
              </a:rPr>
              <a:t>• Near-Zero Cold Start:  </a:t>
            </a:r>
            <a:r>
              <a:rPr sz="1200">
                <a:solidFill>
                  <a:srgbClr val="475569"/>
                </a:solidFill>
                <a:latin typeface="Calibri"/>
              </a:rPr>
              <a:t>WASM modules load in &lt;1ms (vs. 100ms–5s for containers). Combined with stateless pull-based dispatch, the invoke-to-result pipeline targets sub-10ms latency for cached functions.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4/22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System Architecture: Central Server</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Go modular monolith for auth, compilation, dispatch, storage</a:t>
            </a:r>
          </a:p>
        </p:txBody>
      </p:sp>
      <p:sp>
        <p:nvSpPr>
          <p:cNvPr id="10" name="Rounded Rectangle 9"/>
          <p:cNvSpPr/>
          <p:nvPr/>
        </p:nvSpPr>
        <p:spPr>
          <a:xfrm>
            <a:off x="731520" y="1645920"/>
            <a:ext cx="2377440" cy="731520"/>
          </a:xfrm>
          <a:prstGeom prst="roundRect">
            <a:avLst/>
          </a:prstGeom>
          <a:solidFill>
            <a:srgbClr val="FFFFFF"/>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6366F1"/>
                </a:solidFill>
                <a:latin typeface="Calibri"/>
              </a:defRPr>
            </a:pPr>
            <a:r>
              <a:t>React Dashboard</a:t>
            </a:r>
          </a:p>
        </p:txBody>
      </p:sp>
      <p:sp>
        <p:nvSpPr>
          <p:cNvPr id="11" name="Rounded Rectangle 10"/>
          <p:cNvSpPr/>
          <p:nvPr/>
        </p:nvSpPr>
        <p:spPr>
          <a:xfrm>
            <a:off x="731520" y="2743200"/>
            <a:ext cx="2377440" cy="731520"/>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8B5CF6"/>
                </a:solidFill>
                <a:latin typeface="Calibri"/>
              </a:defRPr>
            </a:pPr>
            <a:r>
              <a:t>Consumer Nodes</a:t>
            </a:r>
          </a:p>
        </p:txBody>
      </p:sp>
      <p:sp>
        <p:nvSpPr>
          <p:cNvPr id="12" name="Right Arrow 11"/>
          <p:cNvSpPr/>
          <p:nvPr/>
        </p:nvSpPr>
        <p:spPr>
          <a:xfrm>
            <a:off x="3246120" y="2057400"/>
            <a:ext cx="548640" cy="32004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3246120" y="3154680"/>
            <a:ext cx="548640" cy="32004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886200" y="2194560"/>
            <a:ext cx="2834640" cy="91440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B82F6"/>
                </a:solidFill>
                <a:latin typeface="Calibri"/>
              </a:defRPr>
            </a:pPr>
            <a:r>
              <a:t>Gateway API</a:t>
            </a:r>
            <a:br/>
            <a:r>
              <a:t>(REST + WebSocket)</a:t>
            </a:r>
          </a:p>
        </p:txBody>
      </p:sp>
      <p:sp>
        <p:nvSpPr>
          <p:cNvPr id="15" name="Rounded Rectangle 14"/>
          <p:cNvSpPr/>
          <p:nvPr/>
        </p:nvSpPr>
        <p:spPr>
          <a:xfrm>
            <a:off x="6995160" y="1554480"/>
            <a:ext cx="2011680" cy="548640"/>
          </a:xfrm>
          <a:prstGeom prst="roundRect">
            <a:avLst/>
          </a:prstGeom>
          <a:solidFill>
            <a:srgbClr val="FFFFFF"/>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43F5E"/>
                </a:solidFill>
                <a:latin typeface="Calibri"/>
              </a:defRPr>
            </a:pPr>
            <a:r>
              <a:t>Auth</a:t>
            </a:r>
          </a:p>
        </p:txBody>
      </p:sp>
      <p:sp>
        <p:nvSpPr>
          <p:cNvPr id="16" name="Rounded Rectangle 15"/>
          <p:cNvSpPr/>
          <p:nvPr/>
        </p:nvSpPr>
        <p:spPr>
          <a:xfrm>
            <a:off x="6995160" y="2240280"/>
            <a:ext cx="2011680" cy="548640"/>
          </a:xfrm>
          <a:prstGeom prst="round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59E0B"/>
                </a:solidFill>
                <a:latin typeface="Calibri"/>
              </a:defRPr>
            </a:pPr>
            <a:r>
              <a:t>Compiler</a:t>
            </a:r>
          </a:p>
        </p:txBody>
      </p:sp>
      <p:sp>
        <p:nvSpPr>
          <p:cNvPr id="17" name="Rounded Rectangle 16"/>
          <p:cNvSpPr/>
          <p:nvPr/>
        </p:nvSpPr>
        <p:spPr>
          <a:xfrm>
            <a:off x="6995160" y="2926080"/>
            <a:ext cx="2011680" cy="548640"/>
          </a:xfrm>
          <a:prstGeom prst="roundRect">
            <a:avLst/>
          </a:prstGeom>
          <a:solidFill>
            <a:srgbClr val="FFFFFF"/>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4B8A6"/>
                </a:solidFill>
                <a:latin typeface="Calibri"/>
              </a:defRPr>
            </a:pPr>
            <a:r>
              <a:t>Queue Service</a:t>
            </a:r>
          </a:p>
        </p:txBody>
      </p:sp>
      <p:sp>
        <p:nvSpPr>
          <p:cNvPr id="18" name="Rounded Rectangle 17"/>
          <p:cNvSpPr/>
          <p:nvPr/>
        </p:nvSpPr>
        <p:spPr>
          <a:xfrm>
            <a:off x="6995160" y="3611880"/>
            <a:ext cx="2011680" cy="548640"/>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8B5CF6"/>
                </a:solidFill>
                <a:latin typeface="Calibri"/>
              </a:defRPr>
            </a:pPr>
            <a:r>
              <a:t>Sink Manager</a:t>
            </a:r>
          </a:p>
        </p:txBody>
      </p:sp>
      <p:sp>
        <p:nvSpPr>
          <p:cNvPr id="19" name="Rounded Rectangle 18"/>
          <p:cNvSpPr/>
          <p:nvPr/>
        </p:nvSpPr>
        <p:spPr>
          <a:xfrm>
            <a:off x="6995160" y="4297680"/>
            <a:ext cx="2011680" cy="548640"/>
          </a:xfrm>
          <a:prstGeom prst="roundRect">
            <a:avLst/>
          </a:prstGeom>
          <a:solidFill>
            <a:srgbClr val="FFFFFF"/>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22C55E"/>
                </a:solidFill>
                <a:latin typeface="Calibri"/>
              </a:defRPr>
            </a:pPr>
            <a:r>
              <a:t>Orchestrator</a:t>
            </a:r>
          </a:p>
        </p:txBody>
      </p:sp>
      <p:sp>
        <p:nvSpPr>
          <p:cNvPr id="20" name="Right Arrow 19"/>
          <p:cNvSpPr/>
          <p:nvPr/>
        </p:nvSpPr>
        <p:spPr>
          <a:xfrm>
            <a:off x="6720840" y="2514600"/>
            <a:ext cx="365760" cy="22860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6720840" y="3200400"/>
            <a:ext cx="365760" cy="22860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a:off x="6720840" y="3886200"/>
            <a:ext cx="365760" cy="22860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418320" y="1965960"/>
            <a:ext cx="2468880" cy="731520"/>
          </a:xfrm>
          <a:prstGeom prst="roundRect">
            <a:avLst/>
          </a:prstGeom>
          <a:solidFill>
            <a:srgbClr val="FFFFFF"/>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1E293B"/>
                </a:solidFill>
                <a:latin typeface="Calibri"/>
              </a:defRPr>
            </a:pPr>
            <a:r>
              <a:t>PostgreSQL</a:t>
            </a:r>
            <a:br/>
            <a:r>
              <a:t>(users, lambdas, executions)</a:t>
            </a:r>
          </a:p>
        </p:txBody>
      </p:sp>
      <p:sp>
        <p:nvSpPr>
          <p:cNvPr id="24" name="Rounded Rectangle 23"/>
          <p:cNvSpPr/>
          <p:nvPr/>
        </p:nvSpPr>
        <p:spPr>
          <a:xfrm>
            <a:off x="9418320" y="2971800"/>
            <a:ext cx="2468880" cy="731520"/>
          </a:xfrm>
          <a:prstGeom prst="roundRect">
            <a:avLst/>
          </a:prstGeom>
          <a:solidFill>
            <a:srgbClr val="FFFFFF"/>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1E293B"/>
                </a:solidFill>
                <a:latin typeface="Calibri"/>
              </a:defRPr>
            </a:pPr>
            <a:r>
              <a:t>File Store</a:t>
            </a:r>
            <a:br/>
            <a:r>
              <a:t>(binary outputs)</a:t>
            </a:r>
          </a:p>
        </p:txBody>
      </p:sp>
      <p:sp>
        <p:nvSpPr>
          <p:cNvPr id="25" name="Rounded Rectangle 24"/>
          <p:cNvSpPr/>
          <p:nvPr/>
        </p:nvSpPr>
        <p:spPr>
          <a:xfrm>
            <a:off x="9418320" y="3977639"/>
            <a:ext cx="2468880" cy="731520"/>
          </a:xfrm>
          <a:prstGeom prst="round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1E293B"/>
                </a:solidFill>
                <a:latin typeface="Calibri"/>
              </a:defRPr>
            </a:pPr>
            <a:r>
              <a:t>wasi-sdk clang</a:t>
            </a:r>
            <a:br/>
            <a:r>
              <a:t>(C → WASM)</a:t>
            </a:r>
          </a:p>
        </p:txBody>
      </p:sp>
      <p:sp>
        <p:nvSpPr>
          <p:cNvPr id="26" name="Right Arrow 25"/>
          <p:cNvSpPr/>
          <p:nvPr/>
        </p:nvSpPr>
        <p:spPr>
          <a:xfrm>
            <a:off x="9098280" y="2194560"/>
            <a:ext cx="274320" cy="22860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a:off x="9098280" y="3200400"/>
            <a:ext cx="274320" cy="22860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a:off x="9098280" y="4206240"/>
            <a:ext cx="274320" cy="22860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715000"/>
            <a:ext cx="10972800" cy="640080"/>
          </a:xfrm>
          <a:prstGeom prst="rect">
            <a:avLst/>
          </a:prstGeom>
          <a:noFill/>
        </p:spPr>
        <p:txBody>
          <a:bodyPr wrap="square">
            <a:spAutoFit/>
          </a:bodyPr>
          <a:lstStyle/>
          <a:p>
            <a:pPr>
              <a:lnSpc>
                <a:spcPct val="112000"/>
              </a:lnSpc>
              <a:spcAft>
                <a:spcPts val="200"/>
              </a:spcAft>
              <a:defRPr sz="1100">
                <a:solidFill>
                  <a:srgbClr val="475569"/>
                </a:solidFill>
                <a:latin typeface="Calibri"/>
              </a:defRPr>
            </a:pPr>
            <a:r>
              <a:t>Key idea: the server stays stateless about device connections; nodes pull work via heartbeats.</a:t>
            </a:r>
          </a:p>
          <a:p>
            <a:pPr>
              <a:lnSpc>
                <a:spcPct val="112000"/>
              </a:lnSpc>
              <a:spcAft>
                <a:spcPts val="200"/>
              </a:spcAft>
              <a:defRPr sz="1100">
                <a:solidFill>
                  <a:srgbClr val="475569"/>
                </a:solidFill>
                <a:latin typeface="Calibri"/>
              </a:defRPr>
            </a:pPr>
            <a:r>
              <a:t>Compilation produces small WASM modules (10–50 KB) executed securely on consumer devices.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5/22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System Architecture: React Dashboard</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Developer UI for deploy, invoke, monitor, and download outputs</a:t>
            </a:r>
          </a:p>
        </p:txBody>
      </p:sp>
      <p:sp>
        <p:nvSpPr>
          <p:cNvPr id="10" name="Rounded Rectangle 9"/>
          <p:cNvSpPr/>
          <p:nvPr/>
        </p:nvSpPr>
        <p:spPr>
          <a:xfrm>
            <a:off x="822960" y="1828800"/>
            <a:ext cx="2743200" cy="822960"/>
          </a:xfrm>
          <a:prstGeom prst="roundRect">
            <a:avLst/>
          </a:prstGeom>
          <a:solidFill>
            <a:srgbClr val="FFFFFF"/>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6366F1"/>
                </a:solidFill>
                <a:latin typeface="Calibri"/>
              </a:defRPr>
            </a:pPr>
            <a:r>
              <a:t>Browser (Developer)</a:t>
            </a:r>
          </a:p>
        </p:txBody>
      </p:sp>
      <p:sp>
        <p:nvSpPr>
          <p:cNvPr id="11" name="Right Arrow 10"/>
          <p:cNvSpPr/>
          <p:nvPr/>
        </p:nvSpPr>
        <p:spPr>
          <a:xfrm>
            <a:off x="3611880" y="2121408"/>
            <a:ext cx="640080" cy="32004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3400" y="1554480"/>
            <a:ext cx="3840480" cy="1371600"/>
          </a:xfrm>
          <a:prstGeom prst="roundRect">
            <a:avLst/>
          </a:prstGeom>
          <a:solidFill>
            <a:srgbClr val="FFFFFF"/>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E293B"/>
                </a:solidFill>
                <a:latin typeface="Calibri"/>
              </a:defRPr>
            </a:pPr>
            <a:r>
              <a:t>React App</a:t>
            </a:r>
            <a:br/>
            <a:r>
              <a:t>(Vite + TypeScript + Tailwind)</a:t>
            </a:r>
          </a:p>
        </p:txBody>
      </p:sp>
      <p:sp>
        <p:nvSpPr>
          <p:cNvPr id="13" name="Rounded Rectangle 12"/>
          <p:cNvSpPr/>
          <p:nvPr/>
        </p:nvSpPr>
        <p:spPr>
          <a:xfrm>
            <a:off x="4434840" y="3154680"/>
            <a:ext cx="2377440" cy="731520"/>
          </a:xfrm>
          <a:prstGeom prst="roundRect">
            <a:avLst/>
          </a:prstGeom>
          <a:solidFill>
            <a:srgbClr val="FFFFFF"/>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4B8A6"/>
                </a:solidFill>
                <a:latin typeface="Calibri"/>
              </a:defRPr>
            </a:pPr>
            <a:r>
              <a:t>Pages</a:t>
            </a:r>
          </a:p>
        </p:txBody>
      </p:sp>
      <p:sp>
        <p:nvSpPr>
          <p:cNvPr id="14" name="Rounded Rectangle 13"/>
          <p:cNvSpPr/>
          <p:nvPr/>
        </p:nvSpPr>
        <p:spPr>
          <a:xfrm>
            <a:off x="6903720" y="3154680"/>
            <a:ext cx="2377440" cy="73152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B82F6"/>
                </a:solidFill>
                <a:latin typeface="Calibri"/>
              </a:defRPr>
            </a:pPr>
            <a:r>
              <a:t>Components</a:t>
            </a:r>
          </a:p>
        </p:txBody>
      </p:sp>
      <p:sp>
        <p:nvSpPr>
          <p:cNvPr id="15" name="Rounded Rectangle 14"/>
          <p:cNvSpPr/>
          <p:nvPr/>
        </p:nvSpPr>
        <p:spPr>
          <a:xfrm>
            <a:off x="4434840" y="4069080"/>
            <a:ext cx="2377440" cy="731520"/>
          </a:xfrm>
          <a:prstGeom prst="roundRect">
            <a:avLst/>
          </a:prstGeom>
          <a:solidFill>
            <a:srgbClr val="FFFFFF"/>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43F5E"/>
                </a:solidFill>
                <a:latin typeface="Calibri"/>
              </a:defRPr>
            </a:pPr>
            <a:r>
              <a:t>Auth (OAuth/JWT)</a:t>
            </a:r>
          </a:p>
        </p:txBody>
      </p:sp>
      <p:sp>
        <p:nvSpPr>
          <p:cNvPr id="16" name="Rounded Rectangle 15"/>
          <p:cNvSpPr/>
          <p:nvPr/>
        </p:nvSpPr>
        <p:spPr>
          <a:xfrm>
            <a:off x="6903720" y="4069080"/>
            <a:ext cx="2377440" cy="731520"/>
          </a:xfrm>
          <a:prstGeom prst="round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9E0B"/>
                </a:solidFill>
                <a:latin typeface="Calibri"/>
              </a:defRPr>
            </a:pPr>
            <a:r>
              <a:t>Charts + Logs</a:t>
            </a:r>
          </a:p>
        </p:txBody>
      </p:sp>
      <p:sp>
        <p:nvSpPr>
          <p:cNvPr id="17" name="Right Arrow 16"/>
          <p:cNvSpPr/>
          <p:nvPr/>
        </p:nvSpPr>
        <p:spPr>
          <a:xfrm>
            <a:off x="8321040" y="2121408"/>
            <a:ext cx="640080" cy="32004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098280" y="1828800"/>
            <a:ext cx="2743200" cy="82296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B82F6"/>
                </a:solidFill>
                <a:latin typeface="Calibri"/>
              </a:defRPr>
            </a:pPr>
            <a:r>
              <a:t>Central Server API</a:t>
            </a:r>
          </a:p>
        </p:txBody>
      </p:sp>
      <p:sp>
        <p:nvSpPr>
          <p:cNvPr id="19" name="TextBox 18"/>
          <p:cNvSpPr txBox="1"/>
          <p:nvPr/>
        </p:nvSpPr>
        <p:spPr>
          <a:xfrm>
            <a:off x="822960" y="5257800"/>
            <a:ext cx="10972800" cy="914400"/>
          </a:xfrm>
          <a:prstGeom prst="rect">
            <a:avLst/>
          </a:prstGeom>
          <a:noFill/>
        </p:spPr>
        <p:txBody>
          <a:bodyPr wrap="square">
            <a:spAutoFit/>
          </a:bodyPr>
          <a:lstStyle/>
          <a:p>
            <a:pPr>
              <a:lnSpc>
                <a:spcPct val="112000"/>
              </a:lnSpc>
              <a:spcAft>
                <a:spcPts val="200"/>
              </a:spcAft>
              <a:defRPr sz="1100">
                <a:solidFill>
                  <a:srgbClr val="475569"/>
                </a:solidFill>
                <a:latin typeface="Calibri"/>
              </a:defRPr>
            </a:pPr>
            <a:r>
              <a:t>Typical interaction: Create function → compile → invoke → view logs/results → download files.</a:t>
            </a:r>
          </a:p>
          <a:p>
            <a:pPr>
              <a:lnSpc>
                <a:spcPct val="112000"/>
              </a:lnSpc>
              <a:spcAft>
                <a:spcPts val="200"/>
              </a:spcAft>
              <a:defRPr sz="1100">
                <a:solidFill>
                  <a:srgbClr val="475569"/>
                </a:solidFill>
                <a:latin typeface="Calibri"/>
              </a:defRPr>
            </a:pPr>
            <a:r>
              <a:t>The deck links to the live dashboard at http://localhost:5173 for interactive demos.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6/22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System Architecture: Consumer Node (Android)</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Secure WASM execution pipeline: Flutter → isolated service → JNI → WAMR</a:t>
            </a:r>
          </a:p>
        </p:txBody>
      </p:sp>
      <p:sp>
        <p:nvSpPr>
          <p:cNvPr id="10" name="Rounded Rectangle 9"/>
          <p:cNvSpPr/>
          <p:nvPr/>
        </p:nvSpPr>
        <p:spPr>
          <a:xfrm>
            <a:off x="822960" y="1828800"/>
            <a:ext cx="2743200" cy="82296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B82F6"/>
                </a:solidFill>
                <a:latin typeface="Calibri"/>
              </a:defRPr>
            </a:pPr>
            <a:r>
              <a:t>Central Server</a:t>
            </a:r>
            <a:br/>
            <a:r>
              <a:t>(WebSocket)</a:t>
            </a:r>
          </a:p>
        </p:txBody>
      </p:sp>
      <p:sp>
        <p:nvSpPr>
          <p:cNvPr id="11" name="Right Arrow 10"/>
          <p:cNvSpPr/>
          <p:nvPr/>
        </p:nvSpPr>
        <p:spPr>
          <a:xfrm>
            <a:off x="3611880" y="2121408"/>
            <a:ext cx="640080" cy="32004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3400" y="1645920"/>
            <a:ext cx="2926080" cy="731520"/>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8B5CF6"/>
                </a:solidFill>
                <a:latin typeface="Calibri"/>
              </a:defRPr>
            </a:pPr>
            <a:r>
              <a:t>Flutter Orchestrator</a:t>
            </a:r>
          </a:p>
        </p:txBody>
      </p:sp>
      <p:sp>
        <p:nvSpPr>
          <p:cNvPr id="13" name="Right Arrow 12"/>
          <p:cNvSpPr/>
          <p:nvPr/>
        </p:nvSpPr>
        <p:spPr>
          <a:xfrm>
            <a:off x="7360920" y="1874519"/>
            <a:ext cx="640080" cy="32004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38160" y="1645920"/>
            <a:ext cx="3749039" cy="731520"/>
          </a:xfrm>
          <a:prstGeom prst="roundRect">
            <a:avLst/>
          </a:prstGeom>
          <a:solidFill>
            <a:srgbClr val="FFFFFF"/>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B8A6"/>
                </a:solidFill>
                <a:latin typeface="Calibri"/>
              </a:defRPr>
            </a:pPr>
            <a:r>
              <a:t>Kotlin Service</a:t>
            </a:r>
            <a:br/>
            <a:r>
              <a:t>(isolatedProcess)</a:t>
            </a:r>
          </a:p>
        </p:txBody>
      </p:sp>
      <p:sp>
        <p:nvSpPr>
          <p:cNvPr id="15" name="Down Arrow 14"/>
          <p:cNvSpPr/>
          <p:nvPr/>
        </p:nvSpPr>
        <p:spPr>
          <a:xfrm>
            <a:off x="5669280" y="2514600"/>
            <a:ext cx="320040" cy="640080"/>
          </a:xfrm>
          <a:prstGeom prst="down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43400" y="3291840"/>
            <a:ext cx="2926080" cy="822960"/>
          </a:xfrm>
          <a:prstGeom prst="roundRect">
            <a:avLst/>
          </a:prstGeom>
          <a:solidFill>
            <a:srgbClr val="FFFFFF"/>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293B"/>
                </a:solidFill>
                <a:latin typeface="Calibri"/>
              </a:defRPr>
            </a:pPr>
            <a:r>
              <a:t>Binder IPC</a:t>
            </a:r>
            <a:br/>
            <a:r>
              <a:t>(AIDL)</a:t>
            </a:r>
          </a:p>
        </p:txBody>
      </p:sp>
      <p:sp>
        <p:nvSpPr>
          <p:cNvPr id="17" name="Rounded Rectangle 16"/>
          <p:cNvSpPr/>
          <p:nvPr/>
        </p:nvSpPr>
        <p:spPr>
          <a:xfrm>
            <a:off x="8138160" y="2926080"/>
            <a:ext cx="3749039" cy="640080"/>
          </a:xfrm>
          <a:prstGeom prst="round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9E0B"/>
                </a:solidFill>
                <a:latin typeface="Calibri"/>
              </a:defRPr>
            </a:pPr>
            <a:r>
              <a:t>JNI Bridge (C++)</a:t>
            </a:r>
          </a:p>
        </p:txBody>
      </p:sp>
      <p:sp>
        <p:nvSpPr>
          <p:cNvPr id="18" name="Down Arrow 17"/>
          <p:cNvSpPr/>
          <p:nvPr/>
        </p:nvSpPr>
        <p:spPr>
          <a:xfrm>
            <a:off x="9692640" y="3611880"/>
            <a:ext cx="320040" cy="640080"/>
          </a:xfrm>
          <a:prstGeom prst="down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38160" y="4343400"/>
            <a:ext cx="3749039" cy="822960"/>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293B"/>
                </a:solidFill>
                <a:latin typeface="Calibri"/>
              </a:defRPr>
            </a:pPr>
            <a:r>
              <a:t>WAMR Runtime</a:t>
            </a:r>
            <a:br/>
            <a:r>
              <a:t>(load → instantiate → call → teardown)</a:t>
            </a:r>
          </a:p>
        </p:txBody>
      </p:sp>
      <p:sp>
        <p:nvSpPr>
          <p:cNvPr id="20" name="TextBox 19"/>
          <p:cNvSpPr txBox="1"/>
          <p:nvPr/>
        </p:nvSpPr>
        <p:spPr>
          <a:xfrm>
            <a:off x="822960" y="5440680"/>
            <a:ext cx="10972800" cy="731520"/>
          </a:xfrm>
          <a:prstGeom prst="rect">
            <a:avLst/>
          </a:prstGeom>
          <a:noFill/>
        </p:spPr>
        <p:txBody>
          <a:bodyPr wrap="square">
            <a:spAutoFit/>
          </a:bodyPr>
          <a:lstStyle/>
          <a:p>
            <a:pPr>
              <a:lnSpc>
                <a:spcPct val="112000"/>
              </a:lnSpc>
              <a:spcAft>
                <a:spcPts val="200"/>
              </a:spcAft>
              <a:defRPr sz="1100">
                <a:solidFill>
                  <a:srgbClr val="475569"/>
                </a:solidFill>
                <a:latin typeface="Calibri"/>
              </a:defRPr>
            </a:pPr>
            <a:r>
              <a:t>Isolation: WASM sandbox + interpreter-only runtime + Android isolated process + Linux namespaces + seccomp.</a:t>
            </a:r>
          </a:p>
          <a:p>
            <a:pPr>
              <a:lnSpc>
                <a:spcPct val="112000"/>
              </a:lnSpc>
              <a:spcAft>
                <a:spcPts val="200"/>
              </a:spcAft>
              <a:defRPr sz="1100">
                <a:solidFill>
                  <a:srgbClr val="475569"/>
                </a:solidFill>
                <a:latin typeface="Calibri"/>
              </a:defRPr>
            </a:pPr>
            <a:r>
              <a:t>Result returns through the same chain (WAMR → JNI → Binder → Flutter) to the server.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7/22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Compiler Architecture (Concise Flow)</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How source becomes a deployable WASM artifact ready for dispatch</a:t>
            </a:r>
          </a:p>
        </p:txBody>
      </p:sp>
      <p:sp>
        <p:nvSpPr>
          <p:cNvPr id="10" name="Rounded Rectangle 9"/>
          <p:cNvSpPr/>
          <p:nvPr/>
        </p:nvSpPr>
        <p:spPr>
          <a:xfrm>
            <a:off x="640080" y="1645920"/>
            <a:ext cx="2926080" cy="685800"/>
          </a:xfrm>
          <a:prstGeom prst="roundRect">
            <a:avLst/>
          </a:prstGeom>
          <a:solidFill>
            <a:srgbClr val="FFFFFF"/>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6366F1"/>
                </a:solidFill>
                <a:latin typeface="Calibri"/>
              </a:defRPr>
            </a:pPr>
            <a:r>
              <a:t>Source Intake</a:t>
            </a:r>
          </a:p>
        </p:txBody>
      </p:sp>
      <p:sp>
        <p:nvSpPr>
          <p:cNvPr id="11" name="TextBox 10"/>
          <p:cNvSpPr txBox="1"/>
          <p:nvPr/>
        </p:nvSpPr>
        <p:spPr>
          <a:xfrm>
            <a:off x="777240" y="2377440"/>
            <a:ext cx="2743200" cy="548640"/>
          </a:xfrm>
          <a:prstGeom prst="rect">
            <a:avLst/>
          </a:prstGeom>
          <a:noFill/>
        </p:spPr>
        <p:txBody>
          <a:bodyPr wrap="square">
            <a:spAutoFit/>
          </a:bodyPr>
          <a:lstStyle/>
          <a:p>
            <a:pPr>
              <a:lnSpc>
                <a:spcPct val="112000"/>
              </a:lnSpc>
              <a:spcAft>
                <a:spcPts val="100"/>
              </a:spcAft>
              <a:defRPr sz="1000">
                <a:solidFill>
                  <a:srgbClr val="475569"/>
                </a:solidFill>
                <a:latin typeface="Calibri"/>
              </a:defRPr>
            </a:pPr>
            <a:r>
              <a:t>Inline editor / file upload / GitHub import</a:t>
            </a:r>
          </a:p>
        </p:txBody>
      </p:sp>
      <p:sp>
        <p:nvSpPr>
          <p:cNvPr id="12" name="Right Arrow 11"/>
          <p:cNvSpPr/>
          <p:nvPr/>
        </p:nvSpPr>
        <p:spPr>
          <a:xfrm>
            <a:off x="3611880" y="1874519"/>
            <a:ext cx="640080" cy="32004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43400" y="1508760"/>
            <a:ext cx="3291840" cy="822960"/>
          </a:xfrm>
          <a:prstGeom prst="roundRect">
            <a:avLst/>
          </a:prstGeom>
          <a:solidFill>
            <a:srgbClr val="FFFFFF"/>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4B8A6"/>
                </a:solidFill>
                <a:latin typeface="Calibri"/>
              </a:defRPr>
            </a:pPr>
            <a:r>
              <a:t>Compilation Queue</a:t>
            </a:r>
          </a:p>
        </p:txBody>
      </p:sp>
      <p:sp>
        <p:nvSpPr>
          <p:cNvPr id="14" name="Rounded Rectangle 13"/>
          <p:cNvSpPr/>
          <p:nvPr/>
        </p:nvSpPr>
        <p:spPr>
          <a:xfrm>
            <a:off x="4343400" y="2514600"/>
            <a:ext cx="3291840" cy="91440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B82F6"/>
                </a:solidFill>
                <a:latin typeface="Calibri"/>
              </a:defRPr>
            </a:pPr>
            <a:r>
              <a:t>Compiler Worker</a:t>
            </a:r>
          </a:p>
        </p:txBody>
      </p:sp>
      <p:sp>
        <p:nvSpPr>
          <p:cNvPr id="15" name="TextBox 14"/>
          <p:cNvSpPr txBox="1"/>
          <p:nvPr/>
        </p:nvSpPr>
        <p:spPr>
          <a:xfrm>
            <a:off x="4526280" y="3337560"/>
            <a:ext cx="2926080" cy="457200"/>
          </a:xfrm>
          <a:prstGeom prst="rect">
            <a:avLst/>
          </a:prstGeom>
          <a:noFill/>
        </p:spPr>
        <p:txBody>
          <a:bodyPr wrap="square">
            <a:spAutoFit/>
          </a:bodyPr>
          <a:lstStyle/>
          <a:p>
            <a:pPr>
              <a:lnSpc>
                <a:spcPct val="112000"/>
              </a:lnSpc>
              <a:spcAft>
                <a:spcPts val="100"/>
              </a:spcAft>
              <a:defRPr sz="1000">
                <a:solidFill>
                  <a:srgbClr val="475569"/>
                </a:solidFill>
                <a:latin typeface="Calibri"/>
              </a:defRPr>
            </a:pPr>
            <a:r>
              <a:t>Dequeues requests, validates, produces WASM</a:t>
            </a:r>
          </a:p>
        </p:txBody>
      </p:sp>
      <p:sp>
        <p:nvSpPr>
          <p:cNvPr id="16" name="Right Arrow 15"/>
          <p:cNvSpPr/>
          <p:nvPr/>
        </p:nvSpPr>
        <p:spPr>
          <a:xfrm>
            <a:off x="7726679" y="1874519"/>
            <a:ext cx="640080" cy="32004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458200" y="1417320"/>
            <a:ext cx="3063240" cy="731520"/>
          </a:xfrm>
          <a:prstGeom prst="round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9E0B"/>
                </a:solidFill>
                <a:latin typeface="Calibri"/>
              </a:defRPr>
            </a:pPr>
            <a:r>
              <a:t>Auto-Wrapper</a:t>
            </a:r>
          </a:p>
        </p:txBody>
      </p:sp>
      <p:sp>
        <p:nvSpPr>
          <p:cNvPr id="18" name="Rounded Rectangle 17"/>
          <p:cNvSpPr/>
          <p:nvPr/>
        </p:nvSpPr>
        <p:spPr>
          <a:xfrm>
            <a:off x="8458200" y="2331720"/>
            <a:ext cx="3063240" cy="731520"/>
          </a:xfrm>
          <a:prstGeom prst="round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293B"/>
                </a:solidFill>
                <a:latin typeface="Calibri"/>
              </a:defRPr>
            </a:pPr>
            <a:r>
              <a:t>wasi-sdk clang</a:t>
            </a:r>
          </a:p>
        </p:txBody>
      </p:sp>
      <p:sp>
        <p:nvSpPr>
          <p:cNvPr id="19" name="Rounded Rectangle 18"/>
          <p:cNvSpPr/>
          <p:nvPr/>
        </p:nvSpPr>
        <p:spPr>
          <a:xfrm>
            <a:off x="8458200" y="3246120"/>
            <a:ext cx="3063240" cy="731520"/>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8B5CF6"/>
                </a:solidFill>
                <a:latin typeface="Calibri"/>
              </a:defRPr>
            </a:pPr>
            <a:r>
              <a:t>WASM Artifact</a:t>
            </a:r>
          </a:p>
        </p:txBody>
      </p:sp>
      <p:sp>
        <p:nvSpPr>
          <p:cNvPr id="20" name="Rounded Rectangle 19"/>
          <p:cNvSpPr/>
          <p:nvPr/>
        </p:nvSpPr>
        <p:spPr>
          <a:xfrm>
            <a:off x="8458200" y="4160520"/>
            <a:ext cx="3063240" cy="731520"/>
          </a:xfrm>
          <a:prstGeom prst="roundRect">
            <a:avLst/>
          </a:prstGeom>
          <a:solidFill>
            <a:srgbClr val="FFFFFF"/>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2C55E"/>
                </a:solidFill>
                <a:latin typeface="Calibri"/>
              </a:defRPr>
            </a:pPr>
            <a:r>
              <a:t>Store + Activate</a:t>
            </a:r>
          </a:p>
        </p:txBody>
      </p:sp>
      <p:sp>
        <p:nvSpPr>
          <p:cNvPr id="21" name="Down Arrow 20"/>
          <p:cNvSpPr/>
          <p:nvPr/>
        </p:nvSpPr>
        <p:spPr>
          <a:xfrm>
            <a:off x="9875520" y="2130552"/>
            <a:ext cx="320040" cy="411480"/>
          </a:xfrm>
          <a:prstGeom prst="down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9875520" y="3044952"/>
            <a:ext cx="320040" cy="411480"/>
          </a:xfrm>
          <a:prstGeom prst="down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wn Arrow 22"/>
          <p:cNvSpPr/>
          <p:nvPr/>
        </p:nvSpPr>
        <p:spPr>
          <a:xfrm>
            <a:off x="9875520" y="3959352"/>
            <a:ext cx="320040" cy="411480"/>
          </a:xfrm>
          <a:prstGeom prst="down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43400" y="4023360"/>
            <a:ext cx="3291840" cy="914400"/>
          </a:xfrm>
          <a:prstGeom prst="roundRect">
            <a:avLst/>
          </a:prstGeom>
          <a:solidFill>
            <a:srgbClr val="FFFFFF"/>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293B"/>
                </a:solidFill>
                <a:latin typeface="Calibri"/>
              </a:defRPr>
            </a:pPr>
            <a:r>
              <a:t>Persist Metadata</a:t>
            </a:r>
          </a:p>
        </p:txBody>
      </p:sp>
      <p:sp>
        <p:nvSpPr>
          <p:cNvPr id="25" name="TextBox 24"/>
          <p:cNvSpPr txBox="1"/>
          <p:nvPr/>
        </p:nvSpPr>
        <p:spPr>
          <a:xfrm>
            <a:off x="4526280" y="4800600"/>
            <a:ext cx="2926080" cy="365760"/>
          </a:xfrm>
          <a:prstGeom prst="rect">
            <a:avLst/>
          </a:prstGeom>
          <a:noFill/>
        </p:spPr>
        <p:txBody>
          <a:bodyPr wrap="square">
            <a:spAutoFit/>
          </a:bodyPr>
          <a:lstStyle/>
          <a:p>
            <a:pPr>
              <a:lnSpc>
                <a:spcPct val="112000"/>
              </a:lnSpc>
              <a:spcAft>
                <a:spcPts val="100"/>
              </a:spcAft>
              <a:defRPr sz="1000">
                <a:solidFill>
                  <a:srgbClr val="475569"/>
                </a:solidFill>
                <a:latin typeface="Calibri"/>
              </a:defRPr>
            </a:pPr>
            <a:r>
              <a:t>PostgreSQL: function, compilation, status</a:t>
            </a:r>
          </a:p>
        </p:txBody>
      </p:sp>
      <p:sp>
        <p:nvSpPr>
          <p:cNvPr id="26" name="TextBox 25"/>
          <p:cNvSpPr txBox="1"/>
          <p:nvPr/>
        </p:nvSpPr>
        <p:spPr>
          <a:xfrm>
            <a:off x="640080" y="5806440"/>
            <a:ext cx="10972800" cy="548640"/>
          </a:xfrm>
          <a:prstGeom prst="rect">
            <a:avLst/>
          </a:prstGeom>
          <a:noFill/>
        </p:spPr>
        <p:txBody>
          <a:bodyPr wrap="square">
            <a:spAutoFit/>
          </a:bodyPr>
          <a:lstStyle/>
          <a:p>
            <a:pPr>
              <a:lnSpc>
                <a:spcPct val="112000"/>
              </a:lnSpc>
              <a:spcAft>
                <a:spcPts val="100"/>
              </a:spcAft>
              <a:defRPr sz="1100">
                <a:solidFill>
                  <a:srgbClr val="475569"/>
                </a:solidFill>
                <a:latin typeface="Calibri"/>
              </a:defRPr>
            </a:pPr>
            <a:r>
              <a:t>Output: Activated lambda with a compiled WASM binary ready for dispatch to consumer nodes.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8/22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Compilation Pipeline: Source → WASM</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How user code becomes a portable, sandboxed binary via wasi-sdk clang</a:t>
            </a:r>
          </a:p>
        </p:txBody>
      </p:sp>
      <p:sp>
        <p:nvSpPr>
          <p:cNvPr id="10" name="TextBox 9"/>
          <p:cNvSpPr txBox="1"/>
          <p:nvPr/>
        </p:nvSpPr>
        <p:spPr>
          <a:xfrm>
            <a:off x="731520" y="1554480"/>
            <a:ext cx="10515600" cy="4572000"/>
          </a:xfrm>
          <a:prstGeom prst="rect">
            <a:avLst/>
          </a:prstGeom>
          <a:noFill/>
        </p:spPr>
        <p:txBody>
          <a:bodyPr wrap="square">
            <a:spAutoFit/>
          </a:bodyPr>
          <a:lstStyle/>
          <a:p>
            <a:pPr>
              <a:spcAft>
                <a:spcPts val="700"/>
              </a:spcAft>
            </a:pPr>
            <a:r>
              <a:rPr sz="1400" b="1">
                <a:solidFill>
                  <a:srgbClr val="1E293B"/>
                </a:solidFill>
                <a:latin typeface="Calibri"/>
              </a:rPr>
              <a:t>• Intake Layer:  </a:t>
            </a:r>
            <a:r>
              <a:rPr sz="1200">
                <a:solidFill>
                  <a:srgbClr val="475569"/>
                </a:solidFill>
                <a:latin typeface="Calibri"/>
              </a:rPr>
              <a:t>Accepts source code as raw text (inline JSON), file upload (.c, .zip), or GitHub URL. Code is extracted to isolated temp directories under /tmp/job-id/src/. For ZIP: expects single entry file or build config.</a:t>
            </a:r>
          </a:p>
          <a:p>
            <a:pPr>
              <a:spcAft>
                <a:spcPts val="700"/>
              </a:spcAft>
            </a:pPr>
            <a:r>
              <a:rPr sz="1400" b="1">
                <a:solidFill>
                  <a:srgbClr val="1E293B"/>
                </a:solidFill>
                <a:latin typeface="Calibri"/>
              </a:rPr>
              <a:t>• Auto-Wrapper Generation:  </a:t>
            </a:r>
            <a:r>
              <a:rPr sz="1200">
                <a:solidFill>
                  <a:srgbClr val="475569"/>
                </a:solidFill>
                <a:latin typeface="Calibri"/>
              </a:rPr>
              <a:t>User functions are automatically wrapped. For add(a,b), the system generates: run(input_ptr, input_len, output_ptr, output_cap) — handles JSON deserialize, calls user function, serializes result back into WASM linear memory. Compilation = user code + wrapper → .wasm file.</a:t>
            </a:r>
          </a:p>
        </p:txBody>
      </p:sp>
      <p:sp>
        <p:nvSpPr>
          <p:cNvPr id="11" name="Rounded Rectangle 10"/>
          <p:cNvSpPr/>
          <p:nvPr/>
        </p:nvSpPr>
        <p:spPr>
          <a:xfrm>
            <a:off x="731520" y="3200400"/>
            <a:ext cx="10515600" cy="32004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364992"/>
            <a:ext cx="10058400" cy="2871216"/>
          </a:xfrm>
          <a:prstGeom prst="rect">
            <a:avLst/>
          </a:prstGeom>
          <a:noFill/>
        </p:spPr>
        <p:txBody>
          <a:bodyPr wrap="none">
            <a:spAutoFit/>
          </a:bodyPr>
          <a:lstStyle/>
          <a:p>
            <a:pPr>
              <a:spcAft>
                <a:spcPts val="100"/>
              </a:spcAft>
              <a:defRPr sz="1000">
                <a:solidFill>
                  <a:srgbClr val="E2E8F0"/>
                </a:solidFill>
                <a:latin typeface="Courier New"/>
              </a:defRPr>
            </a:pPr>
            <a:r>
              <a:t># wasi-sdk/bin/clang invocation from compiler.go</a:t>
            </a:r>
          </a:p>
          <a:p>
            <a:pPr>
              <a:spcAft>
                <a:spcPts val="100"/>
              </a:spcAft>
              <a:defRPr sz="1000">
                <a:solidFill>
                  <a:srgbClr val="E2E8F0"/>
                </a:solidFill>
                <a:latin typeface="Courier New"/>
              </a:defRPr>
            </a:pPr>
            <a:r>
              <a:t>$ clang \</a:t>
            </a:r>
          </a:p>
          <a:p>
            <a:pPr>
              <a:spcAft>
                <a:spcPts val="100"/>
              </a:spcAft>
              <a:defRPr sz="1000">
                <a:solidFill>
                  <a:srgbClr val="E2E8F0"/>
                </a:solidFill>
                <a:latin typeface="Courier New"/>
              </a:defRPr>
            </a:pPr>
            <a:r>
              <a:t>    --target=wasm32-wasi                    # Target: WASM 32-bit, WASI interface</a:t>
            </a:r>
          </a:p>
          <a:p>
            <a:pPr>
              <a:spcAft>
                <a:spcPts val="100"/>
              </a:spcAft>
              <a:defRPr sz="1000">
                <a:solidFill>
                  <a:srgbClr val="E2E8F0"/>
                </a:solidFill>
                <a:latin typeface="Courier New"/>
              </a:defRPr>
            </a:pPr>
            <a:r>
              <a:t>    --sysroot=wasi-sdk/share/wasi-sysroot   # Custom sysroot (no host headers)</a:t>
            </a:r>
          </a:p>
          <a:p>
            <a:pPr>
              <a:spcAft>
                <a:spcPts val="100"/>
              </a:spcAft>
              <a:defRPr sz="1000">
                <a:solidFill>
                  <a:srgbClr val="E2E8F0"/>
                </a:solidFill>
                <a:latin typeface="Courier New"/>
              </a:defRPr>
            </a:pPr>
            <a:r>
              <a:t>    -I common_headers/                      # Inject: milf.h, milf_printf.h, pdf.h</a:t>
            </a:r>
          </a:p>
          <a:p>
            <a:pPr>
              <a:spcAft>
                <a:spcPts val="100"/>
              </a:spcAft>
              <a:defRPr sz="1000">
                <a:solidFill>
                  <a:srgbClr val="E2E8F0"/>
                </a:solidFill>
                <a:latin typeface="Courier New"/>
              </a:defRPr>
            </a:pPr>
            <a:r>
              <a:t>    -O1                                     # Optimization level 1</a:t>
            </a:r>
          </a:p>
          <a:p>
            <a:pPr>
              <a:spcAft>
                <a:spcPts val="100"/>
              </a:spcAft>
              <a:defRPr sz="1000">
                <a:solidFill>
                  <a:srgbClr val="E2E8F0"/>
                </a:solidFill>
                <a:latin typeface="Courier New"/>
              </a:defRPr>
            </a:pPr>
            <a:r>
              <a:t>    -mno-bulk-memory                        # WAMR compat: disable bulk memory ops</a:t>
            </a:r>
          </a:p>
          <a:p>
            <a:pPr>
              <a:spcAft>
                <a:spcPts val="100"/>
              </a:spcAft>
              <a:defRPr sz="1000">
                <a:solidFill>
                  <a:srgbClr val="E2E8F0"/>
                </a:solidFill>
                <a:latin typeface="Courier New"/>
              </a:defRPr>
            </a:pPr>
            <a:r>
              <a:t>    -mno-mutable-globals                    # Disable mutable globals import</a:t>
            </a:r>
          </a:p>
          <a:p>
            <a:pPr>
              <a:spcAft>
                <a:spcPts val="100"/>
              </a:spcAft>
              <a:defRPr sz="1000">
                <a:solidFill>
                  <a:srgbClr val="E2E8F0"/>
                </a:solidFill>
                <a:latin typeface="Courier New"/>
              </a:defRPr>
            </a:pPr>
            <a:r>
              <a:t>    -mno-sign-ext                           # Disable sign extension ops</a:t>
            </a:r>
          </a:p>
          <a:p>
            <a:pPr>
              <a:spcAft>
                <a:spcPts val="100"/>
              </a:spcAft>
              <a:defRPr sz="1000">
                <a:solidFill>
                  <a:srgbClr val="E2E8F0"/>
                </a:solidFill>
                <a:latin typeface="Courier New"/>
              </a:defRPr>
            </a:pPr>
            <a:r>
              <a:t>    -fno-builtin -nostdlib                  # No libc — we provide our own via milf.h</a:t>
            </a:r>
          </a:p>
          <a:p>
            <a:pPr>
              <a:spcAft>
                <a:spcPts val="100"/>
              </a:spcAft>
              <a:defRPr sz="1000">
                <a:solidFill>
                  <a:srgbClr val="E2E8F0"/>
                </a:solidFill>
                <a:latin typeface="Courier New"/>
              </a:defRPr>
            </a:pPr>
            <a:r>
              <a:t>    -Wl,--no-entry                          # No _start entry — we call run() directly</a:t>
            </a:r>
          </a:p>
          <a:p>
            <a:pPr>
              <a:spcAft>
                <a:spcPts val="100"/>
              </a:spcAft>
              <a:defRPr sz="1000">
                <a:solidFill>
                  <a:srgbClr val="E2E8F0"/>
                </a:solidFill>
                <a:latin typeface="Courier New"/>
              </a:defRPr>
            </a:pPr>
            <a:r>
              <a:t>    -Wl,--export-all                        # Export all symbols for host access</a:t>
            </a:r>
          </a:p>
          <a:p>
            <a:pPr>
              <a:spcAft>
                <a:spcPts val="100"/>
              </a:spcAft>
              <a:defRPr sz="1000">
                <a:solidFill>
                  <a:srgbClr val="E2E8F0"/>
                </a:solidFill>
                <a:latin typeface="Courier New"/>
              </a:defRPr>
            </a:pPr>
            <a:r>
              <a:t>    -Wl,--allow-undefined                   # Allow host-provided function imports</a:t>
            </a:r>
          </a:p>
          <a:p>
            <a:pPr>
              <a:spcAft>
                <a:spcPts val="100"/>
              </a:spcAft>
              <a:defRPr sz="1000">
                <a:solidFill>
                  <a:srgbClr val="E2E8F0"/>
                </a:solidFill>
                <a:latin typeface="Courier New"/>
              </a:defRPr>
            </a:pPr>
            <a:r>
              <a:t>    -Wl,--strip-all                         # Strip debug symbols (smaller binary)</a:t>
            </a:r>
          </a:p>
          <a:p>
            <a:pPr>
              <a:spcAft>
                <a:spcPts val="100"/>
              </a:spcAft>
              <a:defRPr sz="1000">
                <a:solidFill>
                  <a:srgbClr val="E2E8F0"/>
                </a:solidFill>
                <a:latin typeface="Courier New"/>
              </a:defRPr>
            </a:pPr>
            <a:r>
              <a:t>    -Wl,--no-check-features                 # Skip WASM feature section validation</a:t>
            </a:r>
          </a:p>
          <a:p>
            <a:pPr>
              <a:spcAft>
                <a:spcPts val="100"/>
              </a:spcAft>
              <a:defRPr sz="1000">
                <a:solidFill>
                  <a:srgbClr val="E2E8F0"/>
                </a:solidFill>
                <a:latin typeface="Courier New"/>
              </a:defRPr>
            </a:pPr>
            <a:r>
              <a:t>    input.c -o output.wasm                  # Typical output: 10–50 KB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9/22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Consumer Node: Execution Pipeline on Android</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Flutter → Kotlin → C++/WAMR — complete step-by-step flow (from project documentation)</a:t>
            </a:r>
          </a:p>
        </p:txBody>
      </p:sp>
      <p:sp>
        <p:nvSpPr>
          <p:cNvPr id="10" name="TextBox 9"/>
          <p:cNvSpPr txBox="1"/>
          <p:nvPr/>
        </p:nvSpPr>
        <p:spPr>
          <a:xfrm>
            <a:off x="731520" y="1554480"/>
            <a:ext cx="10515600" cy="4572000"/>
          </a:xfrm>
          <a:prstGeom prst="rect">
            <a:avLst/>
          </a:prstGeom>
          <a:noFill/>
        </p:spPr>
        <p:txBody>
          <a:bodyPr wrap="square">
            <a:spAutoFit/>
          </a:bodyPr>
          <a:lstStyle/>
          <a:p>
            <a:pPr>
              <a:spcAft>
                <a:spcPts val="700"/>
              </a:spcAft>
            </a:pPr>
            <a:r>
              <a:rPr sz="1400" b="1">
                <a:solidFill>
                  <a:srgbClr val="1E293B"/>
                </a:solidFill>
                <a:latin typeface="Calibri"/>
              </a:rPr>
              <a:t>• Step 1: Flutter Orchestrator:  </a:t>
            </a:r>
            <a:r>
              <a:rPr sz="1100">
                <a:solidFill>
                  <a:srgbClr val="475569"/>
                </a:solidFill>
                <a:latin typeface="Calibri"/>
              </a:rPr>
              <a:t>NodeController manages the full lifecycle. CloudSync handles server registration and WebSocket. On receiving TaskAssignment, it base64-decodes the WASM binary, writes to temp file, invokes native bridge via MethodChannel('wamr_channel').invokeMethod('runWasm', {...}).</a:t>
            </a:r>
          </a:p>
          <a:p>
            <a:pPr>
              <a:spcAft>
                <a:spcPts val="700"/>
              </a:spcAft>
            </a:pPr>
            <a:r>
              <a:rPr sz="1400" b="1">
                <a:solidFill>
                  <a:srgbClr val="1E293B"/>
                </a:solidFill>
                <a:latin typeface="Calibri"/>
              </a:rPr>
              <a:t>• Step 2: Kotlin Bridge (AIDL Binder IPC):  </a:t>
            </a:r>
            <a:r>
              <a:rPr sz="1100">
                <a:solidFill>
                  <a:srgbClr val="475569"/>
                </a:solidFill>
                <a:latin typeface="Calibri"/>
              </a:rPr>
              <a:t>MainActivity receives Flutter MethodChannel call, binds to WasmService with BIND_AUTO_CREATE. WasmService runs in android:isolatedProcess='true' — separate process, no app permissions, no filesystem, no network, separate PID. Data crosses processes via Binder serialization.</a:t>
            </a:r>
          </a:p>
          <a:p>
            <a:pPr>
              <a:spcAft>
                <a:spcPts val="700"/>
              </a:spcAft>
            </a:pPr>
            <a:r>
              <a:rPr sz="1400" b="1">
                <a:solidFill>
                  <a:srgbClr val="1E293B"/>
                </a:solidFill>
                <a:latin typeface="Calibri"/>
              </a:rPr>
              <a:t>• Step 3: C++ WAMR Runtime (31 KB binary):  </a:t>
            </a:r>
            <a:r>
              <a:rPr sz="1100">
                <a:solidFill>
                  <a:srgbClr val="475569"/>
                </a:solidFill>
                <a:latin typeface="Calibri"/>
              </a:rPr>
              <a:t>native-lib.cpp: wasm_runtime_full_init() → wasm_runtime_load() parses + validates module → wasm_runtime_instantiate() allocates linear memory + stack → wasm_runtime_lookup_function() finds exported 'run' → wasm_runtime_call_wasm() executes → cleanup: destroy env, de-instantiate, unload. Execution-only mode (interpreter), AOT/JIT disabled.</a:t>
            </a:r>
          </a:p>
          <a:p>
            <a:pPr>
              <a:spcAft>
                <a:spcPts val="700"/>
              </a:spcAft>
            </a:pPr>
            <a:r>
              <a:rPr sz="1400" b="1">
                <a:solidFill>
                  <a:srgbClr val="1E293B"/>
                </a:solidFill>
                <a:latin typeface="Calibri"/>
              </a:rPr>
              <a:t>• Step 4: Result Propagation:  </a:t>
            </a:r>
            <a:r>
              <a:rPr sz="1100">
                <a:solidFill>
                  <a:srgbClr val="475569"/>
                </a:solidFill>
                <a:latin typeface="Calibri"/>
              </a:rPr>
              <a:t>Result flows: native C++ → JNI → WasmService (Binder) → MainActivity → Flutter MethodChannel. Duration + memory stats collected by ExecutionMonitor. MemoryTracker reads RSS from /proc/self/status, refuses instantiation if RSS &gt; 80% of 1.5 GB hard limit.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10/22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Five-Layer Security Model</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Defense-in-depth: protecting infrastructure AND consumer devices running untrusted code</a:t>
            </a:r>
          </a:p>
        </p:txBody>
      </p:sp>
      <p:sp>
        <p:nvSpPr>
          <p:cNvPr id="10" name="Rounded Rectangle 9"/>
          <p:cNvSpPr/>
          <p:nvPr/>
        </p:nvSpPr>
        <p:spPr>
          <a:xfrm>
            <a:off x="457200" y="1737360"/>
            <a:ext cx="365760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847088"/>
            <a:ext cx="3328416" cy="320040"/>
          </a:xfrm>
          <a:prstGeom prst="rect">
            <a:avLst/>
          </a:prstGeom>
          <a:noFill/>
        </p:spPr>
        <p:txBody>
          <a:bodyPr wrap="square">
            <a:spAutoFit/>
          </a:bodyPr>
          <a:lstStyle/>
          <a:p>
            <a:pPr>
              <a:defRPr sz="1300" b="1">
                <a:solidFill>
                  <a:srgbClr val="8B5CF6"/>
                </a:solidFill>
                <a:latin typeface="Calibri"/>
              </a:defRPr>
            </a:pPr>
            <a:r>
              <a:t>① WASM Linear Memory Sandbox</a:t>
            </a:r>
          </a:p>
        </p:txBody>
      </p:sp>
      <p:sp>
        <p:nvSpPr>
          <p:cNvPr id="13" name="TextBox 12"/>
          <p:cNvSpPr txBox="1"/>
          <p:nvPr/>
        </p:nvSpPr>
        <p:spPr>
          <a:xfrm>
            <a:off x="621792" y="2176272"/>
            <a:ext cx="3328416" cy="1554480"/>
          </a:xfrm>
          <a:prstGeom prst="rect">
            <a:avLst/>
          </a:prstGeom>
          <a:noFill/>
        </p:spPr>
        <p:txBody>
          <a:bodyPr wrap="square">
            <a:spAutoFit/>
          </a:bodyPr>
          <a:lstStyle/>
          <a:p>
            <a:pPr>
              <a:spcAft>
                <a:spcPts val="300"/>
              </a:spcAft>
              <a:defRPr sz="1100">
                <a:solidFill>
                  <a:srgbClr val="475569"/>
                </a:solidFill>
                <a:latin typeface="Calibri"/>
              </a:defRPr>
            </a:pPr>
            <a:r>
              <a:t>4 GB max linear memory boundary</a:t>
            </a:r>
          </a:p>
          <a:p>
            <a:pPr>
              <a:spcAft>
                <a:spcPts val="300"/>
              </a:spcAft>
              <a:defRPr sz="1100">
                <a:solidFill>
                  <a:srgbClr val="475569"/>
                </a:solidFill>
                <a:latin typeface="Calibri"/>
              </a:defRPr>
            </a:pPr>
            <a:r>
              <a:t>No pointer escape to host memory</a:t>
            </a:r>
          </a:p>
          <a:p>
            <a:pPr>
              <a:spcAft>
                <a:spcPts val="300"/>
              </a:spcAft>
              <a:defRPr sz="1100">
                <a:solidFill>
                  <a:srgbClr val="475569"/>
                </a:solidFill>
                <a:latin typeface="Calibri"/>
              </a:defRPr>
            </a:pPr>
            <a:r>
              <a:t>Bounds-checked array access at runtime</a:t>
            </a:r>
          </a:p>
          <a:p>
            <a:pPr>
              <a:spcAft>
                <a:spcPts val="300"/>
              </a:spcAft>
              <a:defRPr sz="1100">
                <a:solidFill>
                  <a:srgbClr val="475569"/>
                </a:solidFill>
                <a:latin typeface="Calibri"/>
              </a:defRPr>
            </a:pPr>
            <a:r>
              <a:t>Stack overflow protection enabled</a:t>
            </a:r>
          </a:p>
          <a:p>
            <a:pPr>
              <a:spcAft>
                <a:spcPts val="300"/>
              </a:spcAft>
              <a:defRPr sz="1100">
                <a:solidFill>
                  <a:srgbClr val="475569"/>
                </a:solidFill>
                <a:latin typeface="Calibri"/>
              </a:defRPr>
            </a:pPr>
            <a:r>
              <a:t>No raw syscall capability from WASM</a:t>
            </a:r>
          </a:p>
        </p:txBody>
      </p:sp>
      <p:sp>
        <p:nvSpPr>
          <p:cNvPr id="14" name="Rounded Rectangle 13"/>
          <p:cNvSpPr/>
          <p:nvPr/>
        </p:nvSpPr>
        <p:spPr>
          <a:xfrm>
            <a:off x="4297680" y="1737360"/>
            <a:ext cx="365760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737360"/>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847088"/>
            <a:ext cx="3328416" cy="320040"/>
          </a:xfrm>
          <a:prstGeom prst="rect">
            <a:avLst/>
          </a:prstGeom>
          <a:noFill/>
        </p:spPr>
        <p:txBody>
          <a:bodyPr wrap="square">
            <a:spAutoFit/>
          </a:bodyPr>
          <a:lstStyle/>
          <a:p>
            <a:pPr>
              <a:defRPr sz="1300" b="1">
                <a:solidFill>
                  <a:srgbClr val="3B82F6"/>
                </a:solidFill>
                <a:latin typeface="Calibri"/>
              </a:defRPr>
            </a:pPr>
            <a:r>
              <a:t>② WAMR Runtime Isolation</a:t>
            </a:r>
          </a:p>
        </p:txBody>
      </p:sp>
      <p:sp>
        <p:nvSpPr>
          <p:cNvPr id="17" name="TextBox 16"/>
          <p:cNvSpPr txBox="1"/>
          <p:nvPr/>
        </p:nvSpPr>
        <p:spPr>
          <a:xfrm>
            <a:off x="4462272" y="2176272"/>
            <a:ext cx="3328416" cy="1554480"/>
          </a:xfrm>
          <a:prstGeom prst="rect">
            <a:avLst/>
          </a:prstGeom>
          <a:noFill/>
        </p:spPr>
        <p:txBody>
          <a:bodyPr wrap="square">
            <a:spAutoFit/>
          </a:bodyPr>
          <a:lstStyle/>
          <a:p>
            <a:pPr>
              <a:spcAft>
                <a:spcPts val="300"/>
              </a:spcAft>
              <a:defRPr sz="1100">
                <a:solidFill>
                  <a:srgbClr val="475569"/>
                </a:solidFill>
                <a:latin typeface="Calibri"/>
              </a:defRPr>
            </a:pPr>
            <a:r>
              <a:t>Interpreter-only mode (no JIT/AOT)</a:t>
            </a:r>
          </a:p>
          <a:p>
            <a:pPr>
              <a:spcAft>
                <a:spcPts val="300"/>
              </a:spcAft>
              <a:defRPr sz="1100">
                <a:solidFill>
                  <a:srgbClr val="475569"/>
                </a:solidFill>
                <a:latin typeface="Calibri"/>
              </a:defRPr>
            </a:pPr>
            <a:r>
              <a:t>Restricted WASI API surface</a:t>
            </a:r>
          </a:p>
          <a:p>
            <a:pPr>
              <a:spcAft>
                <a:spcPts val="300"/>
              </a:spcAft>
              <a:defRPr sz="1100">
                <a:solidFill>
                  <a:srgbClr val="475569"/>
                </a:solidFill>
                <a:latin typeface="Calibri"/>
              </a:defRPr>
            </a:pPr>
            <a:r>
              <a:t>No filesystem / network / env access</a:t>
            </a:r>
          </a:p>
          <a:p>
            <a:pPr>
              <a:spcAft>
                <a:spcPts val="300"/>
              </a:spcAft>
              <a:defRPr sz="1100">
                <a:solidFill>
                  <a:srgbClr val="475569"/>
                </a:solidFill>
                <a:latin typeface="Calibri"/>
              </a:defRPr>
            </a:pPr>
            <a:r>
              <a:t>Function import whitelist only</a:t>
            </a:r>
          </a:p>
          <a:p>
            <a:pPr>
              <a:spcAft>
                <a:spcPts val="300"/>
              </a:spcAft>
              <a:defRPr sz="1100">
                <a:solidFill>
                  <a:srgbClr val="475569"/>
                </a:solidFill>
                <a:latin typeface="Calibri"/>
              </a:defRPr>
            </a:pPr>
            <a:r>
              <a:t>Tight execution control and monitoring</a:t>
            </a:r>
          </a:p>
        </p:txBody>
      </p:sp>
      <p:sp>
        <p:nvSpPr>
          <p:cNvPr id="18" name="Rounded Rectangle 17"/>
          <p:cNvSpPr/>
          <p:nvPr/>
        </p:nvSpPr>
        <p:spPr>
          <a:xfrm>
            <a:off x="8138160" y="1737360"/>
            <a:ext cx="365760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1737360"/>
            <a:ext cx="3657600" cy="457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1847088"/>
            <a:ext cx="3328416" cy="320040"/>
          </a:xfrm>
          <a:prstGeom prst="rect">
            <a:avLst/>
          </a:prstGeom>
          <a:noFill/>
        </p:spPr>
        <p:txBody>
          <a:bodyPr wrap="square">
            <a:spAutoFit/>
          </a:bodyPr>
          <a:lstStyle/>
          <a:p>
            <a:pPr>
              <a:defRPr sz="1300" b="1">
                <a:solidFill>
                  <a:srgbClr val="14B8A6"/>
                </a:solidFill>
                <a:latin typeface="Calibri"/>
              </a:defRPr>
            </a:pPr>
            <a:r>
              <a:t>③ Process Isolation (Android)</a:t>
            </a:r>
          </a:p>
        </p:txBody>
      </p:sp>
      <p:sp>
        <p:nvSpPr>
          <p:cNvPr id="21" name="TextBox 20"/>
          <p:cNvSpPr txBox="1"/>
          <p:nvPr/>
        </p:nvSpPr>
        <p:spPr>
          <a:xfrm>
            <a:off x="8302752" y="2176272"/>
            <a:ext cx="3328416" cy="1554480"/>
          </a:xfrm>
          <a:prstGeom prst="rect">
            <a:avLst/>
          </a:prstGeom>
          <a:noFill/>
        </p:spPr>
        <p:txBody>
          <a:bodyPr wrap="square">
            <a:spAutoFit/>
          </a:bodyPr>
          <a:lstStyle/>
          <a:p>
            <a:pPr>
              <a:spcAft>
                <a:spcPts val="300"/>
              </a:spcAft>
              <a:defRPr sz="1100">
                <a:solidFill>
                  <a:srgbClr val="475569"/>
                </a:solidFill>
                <a:latin typeface="Calibri"/>
              </a:defRPr>
            </a:pPr>
            <a:r>
              <a:t>android:isolatedProcess=true</a:t>
            </a:r>
          </a:p>
          <a:p>
            <a:pPr>
              <a:spcAft>
                <a:spcPts val="300"/>
              </a:spcAft>
              <a:defRPr sz="1100">
                <a:solidFill>
                  <a:srgbClr val="475569"/>
                </a:solidFill>
                <a:latin typeface="Calibri"/>
              </a:defRPr>
            </a:pPr>
            <a:r>
              <a:t>No app permissions in isolated process</a:t>
            </a:r>
          </a:p>
          <a:p>
            <a:pPr>
              <a:spcAft>
                <a:spcPts val="300"/>
              </a:spcAft>
              <a:defRPr sz="1100">
                <a:solidFill>
                  <a:srgbClr val="475569"/>
                </a:solidFill>
                <a:latin typeface="Calibri"/>
              </a:defRPr>
            </a:pPr>
            <a:r>
              <a:t>Separate PID, no host filesystem</a:t>
            </a:r>
          </a:p>
          <a:p>
            <a:pPr>
              <a:spcAft>
                <a:spcPts val="300"/>
              </a:spcAft>
              <a:defRPr sz="1100">
                <a:solidFill>
                  <a:srgbClr val="475569"/>
                </a:solidFill>
                <a:latin typeface="Calibri"/>
              </a:defRPr>
            </a:pPr>
            <a:r>
              <a:t>No network access for WASM process</a:t>
            </a:r>
          </a:p>
          <a:p>
            <a:pPr>
              <a:spcAft>
                <a:spcPts val="300"/>
              </a:spcAft>
              <a:defRPr sz="1100">
                <a:solidFill>
                  <a:srgbClr val="475569"/>
                </a:solidFill>
                <a:latin typeface="Calibri"/>
              </a:defRPr>
            </a:pPr>
            <a:r>
              <a:t>Binder IPC is ONLY cross-process channel</a:t>
            </a:r>
          </a:p>
        </p:txBody>
      </p:sp>
      <p:sp>
        <p:nvSpPr>
          <p:cNvPr id="22" name="Rounded Rectangle 21"/>
          <p:cNvSpPr/>
          <p:nvPr/>
        </p:nvSpPr>
        <p:spPr>
          <a:xfrm>
            <a:off x="457200" y="4114800"/>
            <a:ext cx="548640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4114800"/>
            <a:ext cx="54864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4224528"/>
            <a:ext cx="5157216" cy="320040"/>
          </a:xfrm>
          <a:prstGeom prst="rect">
            <a:avLst/>
          </a:prstGeom>
          <a:noFill/>
        </p:spPr>
        <p:txBody>
          <a:bodyPr wrap="square">
            <a:spAutoFit/>
          </a:bodyPr>
          <a:lstStyle/>
          <a:p>
            <a:pPr>
              <a:defRPr sz="1300" b="1">
                <a:solidFill>
                  <a:srgbClr val="F59E0B"/>
                </a:solidFill>
                <a:latin typeface="Calibri"/>
              </a:defRPr>
            </a:pPr>
            <a:r>
              <a:t>④ OS-Level Sandbox (Linux)</a:t>
            </a:r>
          </a:p>
        </p:txBody>
      </p:sp>
      <p:sp>
        <p:nvSpPr>
          <p:cNvPr id="25" name="TextBox 24"/>
          <p:cNvSpPr txBox="1"/>
          <p:nvPr/>
        </p:nvSpPr>
        <p:spPr>
          <a:xfrm>
            <a:off x="621792" y="4553712"/>
            <a:ext cx="5157216" cy="1554480"/>
          </a:xfrm>
          <a:prstGeom prst="rect">
            <a:avLst/>
          </a:prstGeom>
          <a:noFill/>
        </p:spPr>
        <p:txBody>
          <a:bodyPr wrap="square">
            <a:spAutoFit/>
          </a:bodyPr>
          <a:lstStyle/>
          <a:p>
            <a:pPr>
              <a:spcAft>
                <a:spcPts val="300"/>
              </a:spcAft>
              <a:defRPr sz="1100">
                <a:solidFill>
                  <a:srgbClr val="475569"/>
                </a:solidFill>
                <a:latin typeface="Calibri"/>
              </a:defRPr>
            </a:pPr>
            <a:r>
              <a:t>Seccomp-BPF syscall whitelisting — process killed on disallowed syscall</a:t>
            </a:r>
          </a:p>
          <a:p>
            <a:pPr>
              <a:spcAft>
                <a:spcPts val="300"/>
              </a:spcAft>
              <a:defRPr sz="1100">
                <a:solidFill>
                  <a:srgbClr val="475569"/>
                </a:solidFill>
                <a:latin typeface="Calibri"/>
              </a:defRPr>
            </a:pPr>
            <a:r>
              <a:t>PID namespace: process cannot see host processes</a:t>
            </a:r>
          </a:p>
          <a:p>
            <a:pPr>
              <a:spcAft>
                <a:spcPts val="300"/>
              </a:spcAft>
              <a:defRPr sz="1100">
                <a:solidFill>
                  <a:srgbClr val="475569"/>
                </a:solidFill>
                <a:latin typeface="Calibri"/>
              </a:defRPr>
            </a:pPr>
            <a:r>
              <a:t>Mount namespace: virtual filesystem boundary keeps host safe</a:t>
            </a:r>
          </a:p>
          <a:p>
            <a:pPr>
              <a:spcAft>
                <a:spcPts val="300"/>
              </a:spcAft>
              <a:defRPr sz="1100">
                <a:solidFill>
                  <a:srgbClr val="475569"/>
                </a:solidFill>
                <a:latin typeface="Calibri"/>
              </a:defRPr>
            </a:pPr>
            <a:r>
              <a:t>Network namespace: disables/scopes network visibility</a:t>
            </a:r>
          </a:p>
          <a:p>
            <a:pPr>
              <a:spcAft>
                <a:spcPts val="300"/>
              </a:spcAft>
              <a:defRPr sz="1100">
                <a:solidFill>
                  <a:srgbClr val="475569"/>
                </a:solidFill>
                <a:latin typeface="Calibri"/>
              </a:defRPr>
            </a:pPr>
            <a:r>
              <a:t>Cgroups: hard CPU, memory, I/O bandwidth limits enforced by kernel</a:t>
            </a:r>
          </a:p>
        </p:txBody>
      </p:sp>
      <p:sp>
        <p:nvSpPr>
          <p:cNvPr id="26" name="Rounded Rectangle 25"/>
          <p:cNvSpPr/>
          <p:nvPr/>
        </p:nvSpPr>
        <p:spPr>
          <a:xfrm>
            <a:off x="6217920" y="4114800"/>
            <a:ext cx="548640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4114800"/>
            <a:ext cx="5486400" cy="457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82512" y="4224528"/>
            <a:ext cx="5157216" cy="320040"/>
          </a:xfrm>
          <a:prstGeom prst="rect">
            <a:avLst/>
          </a:prstGeom>
          <a:noFill/>
        </p:spPr>
        <p:txBody>
          <a:bodyPr wrap="square">
            <a:spAutoFit/>
          </a:bodyPr>
          <a:lstStyle/>
          <a:p>
            <a:pPr>
              <a:defRPr sz="1300" b="1">
                <a:solidFill>
                  <a:srgbClr val="22C55E"/>
                </a:solidFill>
                <a:latin typeface="Calibri"/>
              </a:defRPr>
            </a:pPr>
            <a:r>
              <a:t>⑤ Memory Admission Control + Kill Switch</a:t>
            </a:r>
          </a:p>
        </p:txBody>
      </p:sp>
      <p:sp>
        <p:nvSpPr>
          <p:cNvPr id="29" name="TextBox 28"/>
          <p:cNvSpPr txBox="1"/>
          <p:nvPr/>
        </p:nvSpPr>
        <p:spPr>
          <a:xfrm>
            <a:off x="6382512" y="4553712"/>
            <a:ext cx="5157216" cy="1554480"/>
          </a:xfrm>
          <a:prstGeom prst="rect">
            <a:avLst/>
          </a:prstGeom>
          <a:noFill/>
        </p:spPr>
        <p:txBody>
          <a:bodyPr wrap="square">
            <a:spAutoFit/>
          </a:bodyPr>
          <a:lstStyle/>
          <a:p>
            <a:pPr>
              <a:spcAft>
                <a:spcPts val="300"/>
              </a:spcAft>
              <a:defRPr sz="1100">
                <a:solidFill>
                  <a:srgbClr val="475569"/>
                </a:solidFill>
                <a:latin typeface="Calibri"/>
              </a:defRPr>
            </a:pPr>
            <a:r>
              <a:t>MemoryTracker reads RSS from /proc/self/status</a:t>
            </a:r>
          </a:p>
          <a:p>
            <a:pPr>
              <a:spcAft>
                <a:spcPts val="300"/>
              </a:spcAft>
              <a:defRPr sz="1100">
                <a:solidFill>
                  <a:srgbClr val="475569"/>
                </a:solidFill>
                <a:latin typeface="Calibri"/>
              </a:defRPr>
            </a:pPr>
            <a:r>
              <a:t>Refuses new instantiation if RSS &gt; 80% of 1.5 GB hard limit</a:t>
            </a:r>
          </a:p>
          <a:p>
            <a:pPr>
              <a:spcAft>
                <a:spcPts val="300"/>
              </a:spcAft>
              <a:defRPr sz="1100">
                <a:solidFill>
                  <a:srgbClr val="475569"/>
                </a:solidFill>
                <a:latin typeface="Calibri"/>
              </a:defRPr>
            </a:pPr>
            <a:r>
              <a:t>Hard 30-second execution timeout (configurable)</a:t>
            </a:r>
          </a:p>
          <a:p>
            <a:pPr>
              <a:spcAft>
                <a:spcPts val="300"/>
              </a:spcAft>
              <a:defRPr sz="1100">
                <a:solidFill>
                  <a:srgbClr val="475569"/>
                </a:solidFill>
                <a:latin typeface="Calibri"/>
              </a:defRPr>
            </a:pPr>
            <a:r>
              <a:t>ExecutionMonitor tracks duration + warns on slow execution</a:t>
            </a:r>
          </a:p>
          <a:p>
            <a:pPr>
              <a:spcAft>
                <a:spcPts val="300"/>
              </a:spcAft>
              <a:defRPr sz="1100">
                <a:solidFill>
                  <a:srgbClr val="475569"/>
                </a:solidFill>
                <a:latin typeface="Calibri"/>
              </a:defRPr>
            </a:pPr>
            <a:r>
              <a:t>Module loaded and destroyed per call — stateless, no residual state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11/22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Live Demo: Developer Dashboard</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Real-time overview — 60 functions deployed, 173 invocations tracked, cost estimation</a:t>
            </a:r>
          </a:p>
        </p:txBody>
      </p:sp>
      <p:sp>
        <p:nvSpPr>
          <p:cNvPr id="10" name="Rounded Rectangle 9"/>
          <p:cNvSpPr/>
          <p:nvPr/>
        </p:nvSpPr>
        <p:spPr>
          <a:xfrm>
            <a:off x="877824" y="1609344"/>
            <a:ext cx="10314432" cy="4828032"/>
          </a:xfrm>
          <a:prstGeom prst="round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ashboard.png"/>
          <p:cNvPicPr>
            <a:picLocks noChangeAspect="1"/>
          </p:cNvPicPr>
          <p:nvPr/>
        </p:nvPicPr>
        <p:blipFill>
          <a:blip r:embed="rId4"/>
          <a:stretch>
            <a:fillRect/>
          </a:stretch>
        </p:blipFill>
        <p:spPr>
          <a:xfrm>
            <a:off x="914400" y="1645920"/>
            <a:ext cx="10241280" cy="4754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12/22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Live Demo: Functions — List &amp; Create</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AWS Lambda parity: runtime selection, execution modes (on-command / CRON), resource config</a:t>
            </a:r>
          </a:p>
        </p:txBody>
      </p:sp>
      <p:sp>
        <p:nvSpPr>
          <p:cNvPr id="10" name="Rounded Rectangle 9"/>
          <p:cNvSpPr/>
          <p:nvPr/>
        </p:nvSpPr>
        <p:spPr>
          <a:xfrm>
            <a:off x="329184" y="1609344"/>
            <a:ext cx="5742432" cy="3730752"/>
          </a:xfrm>
          <a:prstGeom prst="round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unctions.png"/>
          <p:cNvPicPr>
            <a:picLocks noChangeAspect="1"/>
          </p:cNvPicPr>
          <p:nvPr/>
        </p:nvPicPr>
        <p:blipFill>
          <a:blip r:embed="rId4"/>
          <a:stretch>
            <a:fillRect/>
          </a:stretch>
        </p:blipFill>
        <p:spPr>
          <a:xfrm>
            <a:off x="365760" y="1645920"/>
            <a:ext cx="5669280" cy="3657600"/>
          </a:xfrm>
          <a:prstGeom prst="rect">
            <a:avLst/>
          </a:prstGeom>
        </p:spPr>
      </p:pic>
      <p:sp>
        <p:nvSpPr>
          <p:cNvPr id="12" name="Rounded Rectangle 11"/>
          <p:cNvSpPr/>
          <p:nvPr/>
        </p:nvSpPr>
        <p:spPr>
          <a:xfrm>
            <a:off x="6181344" y="1609344"/>
            <a:ext cx="5742432" cy="3730752"/>
          </a:xfrm>
          <a:prstGeom prst="round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reate_function.png"/>
          <p:cNvPicPr>
            <a:picLocks noChangeAspect="1"/>
          </p:cNvPicPr>
          <p:nvPr/>
        </p:nvPicPr>
        <p:blipFill>
          <a:blip r:embed="rId5"/>
          <a:stretch>
            <a:fillRect/>
          </a:stretch>
        </p:blipFill>
        <p:spPr>
          <a:xfrm>
            <a:off x="6217920" y="1645920"/>
            <a:ext cx="5669280" cy="3657600"/>
          </a:xfrm>
          <a:prstGeom prst="rect">
            <a:avLst/>
          </a:prstGeom>
        </p:spPr>
      </p:pic>
      <p:sp>
        <p:nvSpPr>
          <p:cNvPr id="14" name="TextBox 13"/>
          <p:cNvSpPr txBox="1"/>
          <p:nvPr/>
        </p:nvSpPr>
        <p:spPr>
          <a:xfrm>
            <a:off x="457200" y="5577840"/>
            <a:ext cx="11247120" cy="731520"/>
          </a:xfrm>
          <a:prstGeom prst="rect">
            <a:avLst/>
          </a:prstGeom>
          <a:noFill/>
        </p:spPr>
        <p:txBody>
          <a:bodyPr wrap="square">
            <a:spAutoFit/>
          </a:bodyPr>
          <a:lstStyle/>
          <a:p>
            <a:pPr>
              <a:lnSpc>
                <a:spcPct val="112000"/>
              </a:lnSpc>
              <a:spcAft>
                <a:spcPts val="300"/>
              </a:spcAft>
              <a:defRPr sz="1000">
                <a:solidFill>
                  <a:srgbClr val="475569"/>
                </a:solidFill>
                <a:latin typeface="Calibri"/>
              </a:defRPr>
            </a:pPr>
            <a:r>
              <a:t>▸ Function Details: Name, Runtime (C/WASI), Tags            ▸ Execution Mode: On Command (manual/API) or Periodic (CRON schedule)</a:t>
            </a:r>
          </a:p>
          <a:p>
            <a:pPr>
              <a:lnSpc>
                <a:spcPct val="112000"/>
              </a:lnSpc>
              <a:spcAft>
                <a:spcPts val="300"/>
              </a:spcAft>
              <a:defRPr sz="1000">
                <a:solidFill>
                  <a:srgbClr val="475569"/>
                </a:solidFill>
                <a:latin typeface="Calibri"/>
              </a:defRPr>
            </a:pPr>
            <a:r>
              <a:t>▸ Resources: Memory 128–8192 MB slider, Timeout 1–30s       ▸ Source Input: Inline editor (Monaco), file upload, GitHub import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13/22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Live Demo: Invocations &amp; Logs</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Complete execution audit trail with structured logging and live streaming</a:t>
            </a:r>
          </a:p>
        </p:txBody>
      </p:sp>
      <p:sp>
        <p:nvSpPr>
          <p:cNvPr id="10" name="Rounded Rectangle 9"/>
          <p:cNvSpPr/>
          <p:nvPr/>
        </p:nvSpPr>
        <p:spPr>
          <a:xfrm>
            <a:off x="329184" y="1609344"/>
            <a:ext cx="5742432" cy="3730752"/>
          </a:xfrm>
          <a:prstGeom prst="round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nvocations.png"/>
          <p:cNvPicPr>
            <a:picLocks noChangeAspect="1"/>
          </p:cNvPicPr>
          <p:nvPr/>
        </p:nvPicPr>
        <p:blipFill>
          <a:blip r:embed="rId4"/>
          <a:stretch>
            <a:fillRect/>
          </a:stretch>
        </p:blipFill>
        <p:spPr>
          <a:xfrm>
            <a:off x="365760" y="1645920"/>
            <a:ext cx="5669280" cy="3657600"/>
          </a:xfrm>
          <a:prstGeom prst="rect">
            <a:avLst/>
          </a:prstGeom>
        </p:spPr>
      </p:pic>
      <p:sp>
        <p:nvSpPr>
          <p:cNvPr id="12" name="Rounded Rectangle 11"/>
          <p:cNvSpPr/>
          <p:nvPr/>
        </p:nvSpPr>
        <p:spPr>
          <a:xfrm>
            <a:off x="6181344" y="1609344"/>
            <a:ext cx="5742432" cy="3730752"/>
          </a:xfrm>
          <a:prstGeom prst="round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ogs.png"/>
          <p:cNvPicPr>
            <a:picLocks noChangeAspect="1"/>
          </p:cNvPicPr>
          <p:nvPr/>
        </p:nvPicPr>
        <p:blipFill>
          <a:blip r:embed="rId5"/>
          <a:stretch>
            <a:fillRect/>
          </a:stretch>
        </p:blipFill>
        <p:spPr>
          <a:xfrm>
            <a:off x="6217920" y="1645920"/>
            <a:ext cx="5669280" cy="3657600"/>
          </a:xfrm>
          <a:prstGeom prst="rect">
            <a:avLst/>
          </a:prstGeom>
        </p:spPr>
      </p:pic>
      <p:sp>
        <p:nvSpPr>
          <p:cNvPr id="14" name="TextBox 13"/>
          <p:cNvSpPr txBox="1"/>
          <p:nvPr/>
        </p:nvSpPr>
        <p:spPr>
          <a:xfrm>
            <a:off x="457200" y="5577840"/>
            <a:ext cx="11247120" cy="731520"/>
          </a:xfrm>
          <a:prstGeom prst="rect">
            <a:avLst/>
          </a:prstGeom>
          <a:noFill/>
        </p:spPr>
        <p:txBody>
          <a:bodyPr wrap="square">
            <a:spAutoFit/>
          </a:bodyPr>
          <a:lstStyle/>
          <a:p>
            <a:pPr>
              <a:lnSpc>
                <a:spcPct val="112000"/>
              </a:lnSpc>
              <a:spcAft>
                <a:spcPts val="300"/>
              </a:spcAft>
              <a:defRPr sz="1000">
                <a:solidFill>
                  <a:srgbClr val="475569"/>
                </a:solidFill>
                <a:latin typeface="Calibri"/>
              </a:defRPr>
            </a:pPr>
            <a:r>
              <a:t>▸ Invocations: Request ID, function, status (Success/Failed), duration, memory, output (JSON or file download URL)</a:t>
            </a:r>
          </a:p>
          <a:p>
            <a:pPr>
              <a:lnSpc>
                <a:spcPct val="112000"/>
              </a:lnSpc>
              <a:spcAft>
                <a:spcPts val="300"/>
              </a:spcAft>
              <a:defRPr sz="1000">
                <a:solidFill>
                  <a:srgbClr val="475569"/>
                </a:solidFill>
                <a:latin typeface="Calibri"/>
              </a:defRPr>
            </a:pPr>
            <a:r>
              <a:t>▸ Logs: Timestamp, level (INFO/WARN/ERROR), function name, message + expandable detail. Go Live for real-time streaming.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14/22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Live Demo: Billing &amp; File Storage</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AWS-style cost tracking with usage charts and drag-and-drop file management</a:t>
            </a:r>
          </a:p>
        </p:txBody>
      </p:sp>
      <p:sp>
        <p:nvSpPr>
          <p:cNvPr id="10" name="Rounded Rectangle 9"/>
          <p:cNvSpPr/>
          <p:nvPr/>
        </p:nvSpPr>
        <p:spPr>
          <a:xfrm>
            <a:off x="329184" y="1609344"/>
            <a:ext cx="5742432" cy="3730752"/>
          </a:xfrm>
          <a:prstGeom prst="round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illing.png"/>
          <p:cNvPicPr>
            <a:picLocks noChangeAspect="1"/>
          </p:cNvPicPr>
          <p:nvPr/>
        </p:nvPicPr>
        <p:blipFill>
          <a:blip r:embed="rId4"/>
          <a:stretch>
            <a:fillRect/>
          </a:stretch>
        </p:blipFill>
        <p:spPr>
          <a:xfrm>
            <a:off x="365760" y="1645920"/>
            <a:ext cx="5669280" cy="3657600"/>
          </a:xfrm>
          <a:prstGeom prst="rect">
            <a:avLst/>
          </a:prstGeom>
        </p:spPr>
      </p:pic>
      <p:sp>
        <p:nvSpPr>
          <p:cNvPr id="12" name="Rounded Rectangle 11"/>
          <p:cNvSpPr/>
          <p:nvPr/>
        </p:nvSpPr>
        <p:spPr>
          <a:xfrm>
            <a:off x="6181344" y="1609344"/>
            <a:ext cx="5742432" cy="3730752"/>
          </a:xfrm>
          <a:prstGeom prst="round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les.png"/>
          <p:cNvPicPr>
            <a:picLocks noChangeAspect="1"/>
          </p:cNvPicPr>
          <p:nvPr/>
        </p:nvPicPr>
        <p:blipFill>
          <a:blip r:embed="rId5"/>
          <a:stretch>
            <a:fillRect/>
          </a:stretch>
        </p:blipFill>
        <p:spPr>
          <a:xfrm>
            <a:off x="6217920" y="1645920"/>
            <a:ext cx="5669280" cy="3657600"/>
          </a:xfrm>
          <a:prstGeom prst="rect">
            <a:avLst/>
          </a:prstGeom>
        </p:spPr>
      </p:pic>
      <p:sp>
        <p:nvSpPr>
          <p:cNvPr id="14" name="TextBox 13"/>
          <p:cNvSpPr txBox="1"/>
          <p:nvPr/>
        </p:nvSpPr>
        <p:spPr>
          <a:xfrm>
            <a:off x="457200" y="5577840"/>
            <a:ext cx="11247120" cy="731520"/>
          </a:xfrm>
          <a:prstGeom prst="rect">
            <a:avLst/>
          </a:prstGeom>
          <a:noFill/>
        </p:spPr>
        <p:txBody>
          <a:bodyPr wrap="square">
            <a:spAutoFit/>
          </a:bodyPr>
          <a:lstStyle/>
          <a:p>
            <a:pPr>
              <a:lnSpc>
                <a:spcPct val="112000"/>
              </a:lnSpc>
              <a:spcAft>
                <a:spcPts val="300"/>
              </a:spcAft>
              <a:defRPr sz="1000">
                <a:solidFill>
                  <a:srgbClr val="475569"/>
                </a:solidFill>
                <a:latin typeface="Calibri"/>
              </a:defRPr>
            </a:pPr>
            <a:r>
              <a:t>▸ Billing: Current month ($4.32), projected ($12.50), 45K invocations, 12.5h compute. Cost breakdown: $0.0000002/inv, $0.0000166667/GB-s</a:t>
            </a:r>
          </a:p>
          <a:p>
            <a:pPr>
              <a:lnSpc>
                <a:spcPct val="112000"/>
              </a:lnSpc>
              <a:spcAft>
                <a:spcPts val="300"/>
              </a:spcAft>
              <a:defRPr sz="1000">
                <a:solidFill>
                  <a:srgbClr val="475569"/>
                </a:solidFill>
                <a:latin typeface="Calibri"/>
              </a:defRPr>
            </a:pPr>
            <a:r>
              <a:t>▸ Files: Drag-and-drop upload, search, file listing with path/size/date. Supports binary outputs (PDFs, images) from function executions.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15/22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Live Demo: Mobile Consumer Node (Android)</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Real Android device running the MILF Node — 6 successful WASM executions including PDF generation</a:t>
            </a:r>
          </a:p>
        </p:txBody>
      </p:sp>
      <p:sp>
        <p:nvSpPr>
          <p:cNvPr id="10" name="Rounded Rectangle 9"/>
          <p:cNvSpPr/>
          <p:nvPr/>
        </p:nvSpPr>
        <p:spPr>
          <a:xfrm>
            <a:off x="694944" y="1426464"/>
            <a:ext cx="2999232" cy="4919472"/>
          </a:xfrm>
          <a:prstGeom prst="round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lutter_node1.png"/>
          <p:cNvPicPr>
            <a:picLocks noChangeAspect="1"/>
          </p:cNvPicPr>
          <p:nvPr/>
        </p:nvPicPr>
        <p:blipFill>
          <a:blip r:embed="rId4"/>
          <a:stretch>
            <a:fillRect/>
          </a:stretch>
        </p:blipFill>
        <p:spPr>
          <a:xfrm>
            <a:off x="731520" y="1463040"/>
            <a:ext cx="2926080" cy="4846320"/>
          </a:xfrm>
          <a:prstGeom prst="rect">
            <a:avLst/>
          </a:prstGeom>
        </p:spPr>
      </p:pic>
      <p:sp>
        <p:nvSpPr>
          <p:cNvPr id="12" name="Rounded Rectangle 11"/>
          <p:cNvSpPr/>
          <p:nvPr/>
        </p:nvSpPr>
        <p:spPr>
          <a:xfrm>
            <a:off x="3895344" y="1426464"/>
            <a:ext cx="2999232" cy="4919472"/>
          </a:xfrm>
          <a:prstGeom prst="round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lutter_node2.png"/>
          <p:cNvPicPr>
            <a:picLocks noChangeAspect="1"/>
          </p:cNvPicPr>
          <p:nvPr/>
        </p:nvPicPr>
        <p:blipFill>
          <a:blip r:embed="rId5"/>
          <a:stretch>
            <a:fillRect/>
          </a:stretch>
        </p:blipFill>
        <p:spPr>
          <a:xfrm>
            <a:off x="3931920" y="1463040"/>
            <a:ext cx="2926080" cy="4846320"/>
          </a:xfrm>
          <a:prstGeom prst="rect">
            <a:avLst/>
          </a:prstGeom>
        </p:spPr>
      </p:pic>
      <p:sp>
        <p:nvSpPr>
          <p:cNvPr id="14" name="Rounded Rectangle 13"/>
          <p:cNvSpPr/>
          <p:nvPr/>
        </p:nvSpPr>
        <p:spPr>
          <a:xfrm>
            <a:off x="7132320" y="1645920"/>
            <a:ext cx="45720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1645920"/>
            <a:ext cx="45720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96912" y="1755648"/>
            <a:ext cx="4242816" cy="320040"/>
          </a:xfrm>
          <a:prstGeom prst="rect">
            <a:avLst/>
          </a:prstGeom>
          <a:noFill/>
        </p:spPr>
        <p:txBody>
          <a:bodyPr wrap="square">
            <a:spAutoFit/>
          </a:bodyPr>
          <a:lstStyle/>
          <a:p>
            <a:pPr>
              <a:defRPr sz="1300" b="1">
                <a:solidFill>
                  <a:srgbClr val="8B5CF6"/>
                </a:solidFill>
                <a:latin typeface="Calibri"/>
              </a:defRPr>
            </a:pPr>
            <a:r>
              <a:t>Live Execution Evidence</a:t>
            </a:r>
          </a:p>
        </p:txBody>
      </p:sp>
      <p:sp>
        <p:nvSpPr>
          <p:cNvPr id="17" name="TextBox 16"/>
          <p:cNvSpPr txBox="1"/>
          <p:nvPr/>
        </p:nvSpPr>
        <p:spPr>
          <a:xfrm>
            <a:off x="7296912" y="2084832"/>
            <a:ext cx="4242816" cy="4023360"/>
          </a:xfrm>
          <a:prstGeom prst="rect">
            <a:avLst/>
          </a:prstGeom>
          <a:noFill/>
        </p:spPr>
        <p:txBody>
          <a:bodyPr wrap="square">
            <a:spAutoFit/>
          </a:bodyPr>
          <a:lstStyle/>
          <a:p>
            <a:pPr>
              <a:spcAft>
                <a:spcPts val="300"/>
              </a:spcAft>
              <a:defRPr sz="1100">
                <a:solidFill>
                  <a:srgbClr val="475569"/>
                </a:solidFill>
                <a:latin typeface="Calibri"/>
              </a:defRPr>
            </a:pPr>
            <a:r>
              <a:t>Status: Online, 6 Success, 0 Failed, 6 Total</a:t>
            </a:r>
          </a:p>
          <a:p>
            <a:pPr>
              <a:spcAft>
                <a:spcPts val="300"/>
              </a:spcAft>
              <a:defRPr sz="1100">
                <a:solidFill>
                  <a:srgbClr val="475569"/>
                </a:solidFill>
                <a:latin typeface="Calibri"/>
              </a:defRPr>
            </a:pPr>
          </a:p>
          <a:p>
            <a:pPr>
              <a:spcAft>
                <a:spcPts val="300"/>
              </a:spcAft>
              <a:defRPr sz="1100">
                <a:solidFill>
                  <a:srgbClr val="475569"/>
                </a:solidFill>
                <a:latin typeface="Calibri"/>
              </a:defRPr>
            </a:pPr>
            <a:r>
              <a:t>Log Tab (left screenshot):</a:t>
            </a:r>
          </a:p>
          <a:p>
            <a:pPr>
              <a:spcAft>
                <a:spcPts val="300"/>
              </a:spcAft>
              <a:defRPr sz="1100">
                <a:solidFill>
                  <a:srgbClr val="475569"/>
                </a:solidFill>
                <a:latin typeface="Calibri"/>
              </a:defRPr>
            </a:pPr>
            <a:r>
              <a:t>  • WebSocket connection to server</a:t>
            </a:r>
          </a:p>
          <a:p>
            <a:pPr>
              <a:spcAft>
                <a:spcPts val="300"/>
              </a:spcAft>
              <a:defRPr sz="1100">
                <a:solidFill>
                  <a:srgbClr val="475569"/>
                </a:solidFill>
                <a:latin typeface="Calibri"/>
              </a:defRPr>
            </a:pPr>
            <a:r>
              <a:t>  • Received task: imgtopdf4 (image→PDF)</a:t>
            </a:r>
          </a:p>
          <a:p>
            <a:pPr>
              <a:spcAft>
                <a:spcPts val="300"/>
              </a:spcAft>
              <a:defRPr sz="1100">
                <a:solidFill>
                  <a:srgbClr val="475569"/>
                </a:solidFill>
                <a:latin typeface="Calibri"/>
              </a:defRPr>
            </a:pPr>
            <a:r>
              <a:t>  • WASM inlined, executed, result uploaded</a:t>
            </a:r>
          </a:p>
          <a:p>
            <a:pPr>
              <a:spcAft>
                <a:spcPts val="300"/>
              </a:spcAft>
              <a:defRPr sz="1100">
                <a:solidFill>
                  <a:srgbClr val="475569"/>
                </a:solidFill>
                <a:latin typeface="Calibri"/>
              </a:defRPr>
            </a:pPr>
            <a:r>
              <a:t>  • output_result.pdf (30,369 bytes) uploaded</a:t>
            </a:r>
          </a:p>
          <a:p>
            <a:pPr>
              <a:spcAft>
                <a:spcPts val="300"/>
              </a:spcAft>
              <a:defRPr sz="1100">
                <a:solidFill>
                  <a:srgbClr val="475569"/>
                </a:solidFill>
                <a:latin typeface="Calibri"/>
              </a:defRPr>
            </a:pPr>
            <a:r>
              <a:t>  • File ID returned to server</a:t>
            </a:r>
          </a:p>
          <a:p>
            <a:pPr>
              <a:spcAft>
                <a:spcPts val="300"/>
              </a:spcAft>
              <a:defRPr sz="1100">
                <a:solidFill>
                  <a:srgbClr val="475569"/>
                </a:solidFill>
                <a:latin typeface="Calibri"/>
              </a:defRPr>
            </a:pPr>
          </a:p>
          <a:p>
            <a:pPr>
              <a:spcAft>
                <a:spcPts val="300"/>
              </a:spcAft>
              <a:defRPr sz="1100">
                <a:solidFill>
                  <a:srgbClr val="475569"/>
                </a:solidFill>
                <a:latin typeface="Calibri"/>
              </a:defRPr>
            </a:pPr>
            <a:r>
              <a:t>WASM Info Tab (right screenshot):</a:t>
            </a:r>
          </a:p>
          <a:p>
            <a:pPr>
              <a:spcAft>
                <a:spcPts val="300"/>
              </a:spcAft>
              <a:defRPr sz="1100">
                <a:solidFill>
                  <a:srgbClr val="475569"/>
                </a:solidFill>
                <a:latin typeface="Calibri"/>
              </a:defRPr>
            </a:pPr>
            <a:r>
              <a:t>  • afd: WASM 18 KB, Payload 21 B → Output: 77</a:t>
            </a:r>
          </a:p>
          <a:p>
            <a:pPr>
              <a:spcAft>
                <a:spcPts val="300"/>
              </a:spcAft>
              <a:defRPr sz="1100">
                <a:solidFill>
                  <a:srgbClr val="475569"/>
                </a:solidFill>
                <a:latin typeface="Calibri"/>
              </a:defRPr>
            </a:pPr>
            <a:r>
              <a:t>  • try1: WASM 538 B, Payload 87 B →</a:t>
            </a:r>
          </a:p>
          <a:p>
            <a:pPr>
              <a:spcAft>
                <a:spcPts val="300"/>
              </a:spcAft>
              <a:defRPr sz="1100">
                <a:solidFill>
                  <a:srgbClr val="475569"/>
                </a:solidFill>
                <a:latin typeface="Calibri"/>
              </a:defRPr>
            </a:pPr>
            <a:r>
              <a:t>    Output: {"status":"success","message":</a:t>
            </a:r>
          </a:p>
          <a:p>
            <a:pPr>
              <a:spcAft>
                <a:spcPts val="300"/>
              </a:spcAft>
              <a:defRPr sz="1100">
                <a:solidFill>
                  <a:srgbClr val="475569"/>
                </a:solidFill>
                <a:latin typeface="Calibri"/>
              </a:defRPr>
            </a:pPr>
            <a:r>
              <a:t>    "Hello from MILF Shared Headers!"}</a:t>
            </a:r>
          </a:p>
          <a:p>
            <a:pPr>
              <a:spcAft>
                <a:spcPts val="300"/>
              </a:spcAft>
              <a:defRPr sz="1100">
                <a:solidFill>
                  <a:srgbClr val="475569"/>
                </a:solidFill>
                <a:latin typeface="Calibri"/>
              </a:defRPr>
            </a:pPr>
            <a:r>
              <a:t>  • PDF output with download URL shown</a:t>
            </a:r>
          </a:p>
          <a:p>
            <a:pPr>
              <a:spcAft>
                <a:spcPts val="300"/>
              </a:spcAft>
              <a:defRPr sz="1100">
                <a:solidFill>
                  <a:srgbClr val="475569"/>
                </a:solidFill>
                <a:latin typeface="Calibri"/>
              </a:defRPr>
            </a:pPr>
          </a:p>
          <a:p>
            <a:pPr>
              <a:spcAft>
                <a:spcPts val="300"/>
              </a:spcAft>
              <a:defRPr sz="1100">
                <a:solidFill>
                  <a:srgbClr val="475569"/>
                </a:solidFill>
                <a:latin typeface="Calibri"/>
              </a:defRPr>
            </a:pPr>
            <a:r>
              <a:t>Two tabs: Log (execution trace) + WASM Info</a:t>
            </a:r>
          </a:p>
          <a:p>
            <a:pPr>
              <a:spcAft>
                <a:spcPts val="300"/>
              </a:spcAft>
              <a:defRPr sz="1100">
                <a:solidFill>
                  <a:srgbClr val="475569"/>
                </a:solidFill>
                <a:latin typeface="Calibri"/>
              </a:defRPr>
            </a:pPr>
            <a:r>
              <a:t>(per-task binary size, payload, type, output)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16/22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Real-Time Communication: WebSocket Protocol</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Bidirectional message types between Central Server and Consumer Nodes</a:t>
            </a:r>
          </a:p>
        </p:txBody>
      </p:sp>
      <p:sp>
        <p:nvSpPr>
          <p:cNvPr id="10" name="TextBox 9"/>
          <p:cNvSpPr txBox="1"/>
          <p:nvPr/>
        </p:nvSpPr>
        <p:spPr>
          <a:xfrm>
            <a:off x="731520" y="1554480"/>
            <a:ext cx="10515600" cy="4572000"/>
          </a:xfrm>
          <a:prstGeom prst="rect">
            <a:avLst/>
          </a:prstGeom>
          <a:noFill/>
        </p:spPr>
        <p:txBody>
          <a:bodyPr wrap="square">
            <a:spAutoFit/>
          </a:bodyPr>
          <a:lstStyle/>
          <a:p>
            <a:pPr>
              <a:spcAft>
                <a:spcPts val="700"/>
              </a:spcAft>
            </a:pPr>
            <a:r>
              <a:rPr sz="1400" b="1">
                <a:solidFill>
                  <a:srgbClr val="1E293B"/>
                </a:solidFill>
                <a:latin typeface="Calibri"/>
              </a:rPr>
              <a:t>• Connection Upgrade:  </a:t>
            </a:r>
            <a:r>
              <a:rPr sz="1100">
                <a:solidFill>
                  <a:srgbClr val="475569"/>
                </a:solidFill>
                <a:latin typeface="Calibri"/>
              </a:rPr>
              <a:t>GET /api/v1/sinks/ws?sinkId=&lt;uuid&gt; — HTTP → WebSocket upgrade via gorilla/websocket. On connect, sink joins the in-memory ConnectionHub. Server starts read loop for heartbeat/result messages.</a:t>
            </a:r>
          </a:p>
          <a:p>
            <a:pPr>
              <a:spcAft>
                <a:spcPts val="700"/>
              </a:spcAft>
            </a:pPr>
            <a:r>
              <a:rPr sz="1400" b="1">
                <a:solidFill>
                  <a:srgbClr val="1E293B"/>
                </a:solidFill>
                <a:latin typeface="Calibri"/>
              </a:rPr>
              <a:t>• Heartbeat (Sink → Server):  </a:t>
            </a:r>
            <a:r>
              <a:rPr sz="1100">
                <a:solidFill>
                  <a:srgbClr val="475569"/>
                </a:solidFill>
                <a:latin typeface="Calibri"/>
              </a:rPr>
              <a:t>{"type":"heartbeat","payload":{"sink_id":"uuid","ram_available_mb":512,"storage_available_mb":1024}} — Sent every 5-10 seconds. SinkManager instantly matches reported capacity against queued jobs and responds with a task assignment if one fits.</a:t>
            </a:r>
          </a:p>
          <a:p>
            <a:pPr>
              <a:spcAft>
                <a:spcPts val="700"/>
              </a:spcAft>
            </a:pPr>
            <a:r>
              <a:rPr sz="1400" b="1">
                <a:solidFill>
                  <a:srgbClr val="1E293B"/>
                </a:solidFill>
                <a:latin typeface="Calibri"/>
              </a:rPr>
              <a:t>• Task Assignment (Server → Sink):  </a:t>
            </a:r>
            <a:r>
              <a:rPr sz="1100">
                <a:solidFill>
                  <a:srgbClr val="475569"/>
                </a:solidFill>
                <a:latin typeface="Calibri"/>
              </a:rPr>
              <a:t>{"type":"task_assignment","payload":{"execution_id":"uuid","lambda_id":"text","wasm_bytes":"&lt;base64&gt;","input":{...},"timeout_seconds":30}} — Complete WASM binary is base64-encoded inline in the payload. No separate download step needed.</a:t>
            </a:r>
          </a:p>
          <a:p>
            <a:pPr>
              <a:spcAft>
                <a:spcPts val="700"/>
              </a:spcAft>
            </a:pPr>
            <a:r>
              <a:rPr sz="1400" b="1">
                <a:solidFill>
                  <a:srgbClr val="1E293B"/>
                </a:solidFill>
                <a:latin typeface="Calibri"/>
              </a:rPr>
              <a:t>• Task Result (Sink → Server):  </a:t>
            </a:r>
            <a:r>
              <a:rPr sz="1100">
                <a:solidFill>
                  <a:srgbClr val="475569"/>
                </a:solidFill>
                <a:latin typeface="Calibri"/>
              </a:rPr>
              <a:t>{"type":"task_result","payload":{"execution_id":"uuid","output":{...},"success":true,"duration_ms":12,"memory_used_mb":2.4}} — Updates Execution record to "completed" and unblocks synchronous HTTP waiters via condition variable (NotifyResult).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17/22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REST API Surface: 25+ Endpoints</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Complete API reference from the Gateway and Sink Manager modules</a:t>
            </a:r>
          </a:p>
        </p:txBody>
      </p:sp>
      <p:sp>
        <p:nvSpPr>
          <p:cNvPr id="10" name="Rounded Rectangle 9"/>
          <p:cNvSpPr/>
          <p:nvPr/>
        </p:nvSpPr>
        <p:spPr>
          <a:xfrm>
            <a:off x="731520" y="1554480"/>
            <a:ext cx="1051560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19072"/>
            <a:ext cx="10058400" cy="4425696"/>
          </a:xfrm>
          <a:prstGeom prst="rect">
            <a:avLst/>
          </a:prstGeom>
          <a:noFill/>
        </p:spPr>
        <p:txBody>
          <a:bodyPr wrap="none">
            <a:spAutoFit/>
          </a:bodyPr>
          <a:lstStyle/>
          <a:p>
            <a:pPr>
              <a:spcAft>
                <a:spcPts val="100"/>
              </a:spcAft>
              <a:defRPr sz="1000">
                <a:solidFill>
                  <a:srgbClr val="E2E8F0"/>
                </a:solidFill>
                <a:latin typeface="Courier New"/>
              </a:defRPr>
            </a:pPr>
            <a:r>
              <a:t>── Gateway Endpoints ────────────────────────────────────────────────────────────</a:t>
            </a:r>
          </a:p>
          <a:p>
            <a:pPr>
              <a:spcAft>
                <a:spcPts val="100"/>
              </a:spcAft>
              <a:defRPr sz="1000">
                <a:solidFill>
                  <a:srgbClr val="E2E8F0"/>
                </a:solidFill>
                <a:latin typeface="Courier New"/>
              </a:defRPr>
            </a:pPr>
            <a:r>
              <a:t>POST /api/v1/auth/register                  Register new developer (bcrypt hash)</a:t>
            </a:r>
          </a:p>
          <a:p>
            <a:pPr>
              <a:spcAft>
                <a:spcPts val="100"/>
              </a:spcAft>
              <a:defRPr sz="1000">
                <a:solidFill>
                  <a:srgbClr val="E2E8F0"/>
                </a:solidFill>
                <a:latin typeface="Courier New"/>
              </a:defRPr>
            </a:pPr>
            <a:r>
              <a:t>POST /api/v1/auth/login                     Login → JWT access token (24hr)</a:t>
            </a:r>
          </a:p>
          <a:p>
            <a:pPr>
              <a:spcAft>
                <a:spcPts val="100"/>
              </a:spcAft>
              <a:defRPr sz="1000">
                <a:solidFill>
                  <a:srgbClr val="E2E8F0"/>
                </a:solidFill>
                <a:latin typeface="Courier New"/>
              </a:defRPr>
            </a:pPr>
            <a:r>
              <a:t>POST /api/v1/functions/create               Create + auto-compile lambda to WASM</a:t>
            </a:r>
          </a:p>
          <a:p>
            <a:pPr>
              <a:spcAft>
                <a:spcPts val="100"/>
              </a:spcAft>
              <a:defRPr sz="1000">
                <a:solidFill>
                  <a:srgbClr val="E2E8F0"/>
                </a:solidFill>
                <a:latin typeface="Courier New"/>
              </a:defRPr>
            </a:pPr>
            <a:r>
              <a:t>POST /api/v1/functions/invoke               Invoke function → dispatch to sink</a:t>
            </a:r>
          </a:p>
          <a:p>
            <a:pPr>
              <a:spcAft>
                <a:spcPts val="100"/>
              </a:spcAft>
              <a:defRPr sz="1000">
                <a:solidFill>
                  <a:srgbClr val="E2E8F0"/>
                </a:solidFill>
                <a:latin typeface="Courier New"/>
              </a:defRPr>
            </a:pPr>
            <a:r>
              <a:t>GET  /api/v1/lambdas                        List all lambdas for authenticated user</a:t>
            </a:r>
          </a:p>
          <a:p>
            <a:pPr>
              <a:spcAft>
                <a:spcPts val="100"/>
              </a:spcAft>
              <a:defRPr sz="1000">
                <a:solidFill>
                  <a:srgbClr val="E2E8F0"/>
                </a:solidFill>
                <a:latin typeface="Courier New"/>
              </a:defRPr>
            </a:pPr>
            <a:r>
              <a:t>GET  /api/v1/lambdas/{id}                   Get lambda details + metadata</a:t>
            </a:r>
          </a:p>
          <a:p>
            <a:pPr>
              <a:spcAft>
                <a:spcPts val="100"/>
              </a:spcAft>
              <a:defRPr sz="1000">
                <a:solidFill>
                  <a:srgbClr val="E2E8F0"/>
                </a:solidFill>
                <a:latin typeface="Courier New"/>
              </a:defRPr>
            </a:pPr>
            <a:r>
              <a:t>GET  /api/v1/lambdas/{id}/wasm              Download raw compiled WASM binary</a:t>
            </a:r>
          </a:p>
          <a:p>
            <a:pPr>
              <a:spcAft>
                <a:spcPts val="100"/>
              </a:spcAft>
              <a:defRPr sz="1000">
                <a:solidFill>
                  <a:srgbClr val="E2E8F0"/>
                </a:solidFill>
                <a:latin typeface="Courier New"/>
              </a:defRPr>
            </a:pPr>
            <a:r>
              <a:t>DELETE /api/v1/lambdas/{id}                 Delete lambda + cascade WASM binary</a:t>
            </a:r>
          </a:p>
          <a:p>
            <a:pPr>
              <a:spcAft>
                <a:spcPts val="100"/>
              </a:spcAft>
              <a:defRPr sz="1000">
                <a:solidFill>
                  <a:srgbClr val="E2E8F0"/>
                </a:solidFill>
                <a:latin typeface="Courier New"/>
              </a:defRPr>
            </a:pPr>
            <a:r>
              <a:t>POST /api/v1/lambdas/activate               Set lambda status to active</a:t>
            </a:r>
          </a:p>
          <a:p>
            <a:pPr>
              <a:spcAft>
                <a:spcPts val="100"/>
              </a:spcAft>
              <a:defRPr sz="1000">
                <a:solidFill>
                  <a:srgbClr val="E2E8F0"/>
                </a:solidFill>
                <a:latin typeface="Courier New"/>
              </a:defRPr>
            </a:pPr>
            <a:r>
              <a:t>POST /api/v1/lambdas/{id}/schedule/pause    Pause CRON schedule</a:t>
            </a:r>
          </a:p>
          <a:p>
            <a:pPr>
              <a:spcAft>
                <a:spcPts val="100"/>
              </a:spcAft>
              <a:defRPr sz="1000">
                <a:solidFill>
                  <a:srgbClr val="E2E8F0"/>
                </a:solidFill>
                <a:latin typeface="Courier New"/>
              </a:defRPr>
            </a:pPr>
            <a:r>
              <a:t>POST /api/v1/lambdas/{id}/schedule/resume   Resume CRON schedule</a:t>
            </a:r>
          </a:p>
          <a:p>
            <a:pPr>
              <a:spcAft>
                <a:spcPts val="100"/>
              </a:spcAft>
              <a:defRPr sz="1000">
                <a:solidFill>
                  <a:srgbClr val="E2E8F0"/>
                </a:solidFill>
                <a:latin typeface="Courier New"/>
              </a:defRPr>
            </a:pPr>
            <a:r>
              <a:t>GET  /api/v1/executions/{id}                Get execution details + result</a:t>
            </a:r>
          </a:p>
          <a:p>
            <a:pPr>
              <a:spcAft>
                <a:spcPts val="100"/>
              </a:spcAft>
              <a:defRPr sz="1000">
                <a:solidFill>
                  <a:srgbClr val="E2E8F0"/>
                </a:solidFill>
                <a:latin typeface="Courier New"/>
              </a:defRPr>
            </a:pPr>
            <a:r>
              <a:t>GET  /api/v1/logs                           Query structured execution logs</a:t>
            </a:r>
          </a:p>
          <a:p>
            <a:pPr>
              <a:spcAft>
                <a:spcPts val="100"/>
              </a:spcAft>
              <a:defRPr sz="1000">
                <a:solidFill>
                  <a:srgbClr val="E2E8F0"/>
                </a:solidFill>
                <a:latin typeface="Courier New"/>
              </a:defRPr>
            </a:pPr>
            <a:r>
              <a:t>── Sink Endpoints ──────────────────────────────────────────────────────────────</a:t>
            </a:r>
          </a:p>
          <a:p>
            <a:pPr>
              <a:spcAft>
                <a:spcPts val="100"/>
              </a:spcAft>
              <a:defRPr sz="1000">
                <a:solidFill>
                  <a:srgbClr val="E2E8F0"/>
                </a:solidFill>
                <a:latin typeface="Courier New"/>
              </a:defRPr>
            </a:pPr>
            <a:r>
              <a:t>POST /api/v1/sinks/register                 Register consumer device (email/pass)</a:t>
            </a:r>
          </a:p>
          <a:p>
            <a:pPr>
              <a:spcAft>
                <a:spcPts val="100"/>
              </a:spcAft>
              <a:defRPr sz="1000">
                <a:solidFill>
                  <a:srgbClr val="E2E8F0"/>
                </a:solidFill>
                <a:latin typeface="Courier New"/>
              </a:defRPr>
            </a:pPr>
            <a:r>
              <a:t>POST /api/v1/sinks/login                    Authenticate sink → JWT</a:t>
            </a:r>
          </a:p>
          <a:p>
            <a:pPr>
              <a:spcAft>
                <a:spcPts val="100"/>
              </a:spcAft>
              <a:defRPr sz="1000">
                <a:solidFill>
                  <a:srgbClr val="E2E8F0"/>
                </a:solidFill>
                <a:latin typeface="Courier New"/>
              </a:defRPr>
            </a:pPr>
            <a:r>
              <a:t>POST /api/v1/sinks/heartbeat                Report RAM/storage (HTTP fallback)</a:t>
            </a:r>
          </a:p>
          <a:p>
            <a:pPr>
              <a:spcAft>
                <a:spcPts val="100"/>
              </a:spcAft>
              <a:defRPr sz="1000">
                <a:solidFill>
                  <a:srgbClr val="E2E8F0"/>
                </a:solidFill>
                <a:latin typeface="Courier New"/>
              </a:defRPr>
            </a:pPr>
            <a:r>
              <a:t>POST /api/v1/sinks/result                   Submit task result (HTTP fallback)</a:t>
            </a:r>
          </a:p>
          <a:p>
            <a:pPr>
              <a:spcAft>
                <a:spcPts val="100"/>
              </a:spcAft>
              <a:defRPr sz="1000">
                <a:solidFill>
                  <a:srgbClr val="E2E8F0"/>
                </a:solidFill>
                <a:latin typeface="Courier New"/>
              </a:defRPr>
            </a:pPr>
            <a:r>
              <a:t>GET  /api/v1/sinks/ws?sinkId=...            Upgrade to WebSocket (bidirectional)</a:t>
            </a:r>
          </a:p>
          <a:p>
            <a:pPr>
              <a:spcAft>
                <a:spcPts val="100"/>
              </a:spcAft>
              <a:defRPr sz="1000">
                <a:solidFill>
                  <a:srgbClr val="E2E8F0"/>
                </a:solidFill>
                <a:latin typeface="Courier New"/>
              </a:defRPr>
            </a:pPr>
            <a:r>
              <a:t>── Files + Health ──────────────────────────────────────────────────────────────</a:t>
            </a:r>
          </a:p>
          <a:p>
            <a:pPr>
              <a:spcAft>
                <a:spcPts val="100"/>
              </a:spcAft>
              <a:defRPr sz="1000">
                <a:solidFill>
                  <a:srgbClr val="E2E8F0"/>
                </a:solidFill>
                <a:latin typeface="Courier New"/>
              </a:defRPr>
            </a:pPr>
            <a:r>
              <a:t>POST /api/v1/files                          Upload binary file (multipart)</a:t>
            </a:r>
          </a:p>
          <a:p>
            <a:pPr>
              <a:spcAft>
                <a:spcPts val="100"/>
              </a:spcAft>
              <a:defRPr sz="1000">
                <a:solidFill>
                  <a:srgbClr val="E2E8F0"/>
                </a:solidFill>
                <a:latin typeface="Courier New"/>
              </a:defRPr>
            </a:pPr>
            <a:r>
              <a:t>GET  /api/v1/files/{id}                     Download file by ID (PDF, images)</a:t>
            </a:r>
          </a:p>
          <a:p>
            <a:pPr>
              <a:spcAft>
                <a:spcPts val="100"/>
              </a:spcAft>
              <a:defRPr sz="1000">
                <a:solidFill>
                  <a:srgbClr val="E2E8F0"/>
                </a:solidFill>
                <a:latin typeface="Courier New"/>
              </a:defRPr>
            </a:pPr>
            <a:r>
              <a:t>GET  /health                                Full JSON health check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18/22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Database Schema (PostgreSQL)</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Relational storage for users, functions, executions, logs, sinks, and policies</a:t>
            </a:r>
          </a:p>
        </p:txBody>
      </p:sp>
      <p:sp>
        <p:nvSpPr>
          <p:cNvPr id="10" name="Rounded Rectangle 9"/>
          <p:cNvSpPr/>
          <p:nvPr/>
        </p:nvSpPr>
        <p:spPr>
          <a:xfrm>
            <a:off x="731520" y="1554480"/>
            <a:ext cx="1051560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719072"/>
            <a:ext cx="10058400" cy="4425696"/>
          </a:xfrm>
          <a:prstGeom prst="rect">
            <a:avLst/>
          </a:prstGeom>
          <a:noFill/>
        </p:spPr>
        <p:txBody>
          <a:bodyPr wrap="none">
            <a:spAutoFit/>
          </a:bodyPr>
          <a:lstStyle/>
          <a:p>
            <a:pPr>
              <a:spcAft>
                <a:spcPts val="100"/>
              </a:spcAft>
              <a:defRPr sz="1000">
                <a:solidFill>
                  <a:srgbClr val="E2E8F0"/>
                </a:solidFill>
                <a:latin typeface="Courier New"/>
              </a:defRPr>
            </a:pPr>
            <a:r>
              <a:t>-- USERS: Authentication &amp; identity</a:t>
            </a:r>
          </a:p>
          <a:p>
            <a:pPr>
              <a:spcAft>
                <a:spcPts val="100"/>
              </a:spcAft>
              <a:defRPr sz="1000">
                <a:solidFill>
                  <a:srgbClr val="E2E8F0"/>
                </a:solidFill>
                <a:latin typeface="Courier New"/>
              </a:defRPr>
            </a:pPr>
            <a:r>
              <a:t>CREATE TABLE users (</a:t>
            </a:r>
          </a:p>
          <a:p>
            <a:pPr>
              <a:spcAft>
                <a:spcPts val="100"/>
              </a:spcAft>
              <a:defRPr sz="1000">
                <a:solidFill>
                  <a:srgbClr val="E2E8F0"/>
                </a:solidFill>
                <a:latin typeface="Courier New"/>
              </a:defRPr>
            </a:pPr>
            <a:r>
              <a:t>  id UUID PRIMARY KEY, username VARCHAR(255) UNIQUE NOT NULL,</a:t>
            </a:r>
          </a:p>
          <a:p>
            <a:pPr>
              <a:spcAft>
                <a:spcPts val="100"/>
              </a:spcAft>
              <a:defRPr sz="1000">
                <a:solidFill>
                  <a:srgbClr val="E2E8F0"/>
                </a:solidFill>
                <a:latin typeface="Courier New"/>
              </a:defRPr>
            </a:pPr>
            <a:r>
              <a:t>  password_hash TEXT NOT NULL, created_at TIMESTAMPTZ, updated_at TIMESTAMPTZ</a:t>
            </a:r>
          </a:p>
          <a:p>
            <a:pPr>
              <a:spcAft>
                <a:spcPts val="100"/>
              </a:spcAft>
              <a:defRPr sz="1000">
                <a:solidFill>
                  <a:srgbClr val="E2E8F0"/>
                </a:solidFill>
                <a:latin typeface="Courier New"/>
              </a:defRPr>
            </a:pPr>
            <a:r>
              <a:t>);</a:t>
            </a:r>
          </a:p>
          <a:p>
            <a:pPr>
              <a:spcAft>
                <a:spcPts val="100"/>
              </a:spcAft>
              <a:defRPr sz="1000">
                <a:solidFill>
                  <a:srgbClr val="E2E8F0"/>
                </a:solidFill>
                <a:latin typeface="Courier New"/>
              </a:defRPr>
            </a:pPr>
          </a:p>
          <a:p>
            <a:pPr>
              <a:spcAft>
                <a:spcPts val="100"/>
              </a:spcAft>
              <a:defRPr sz="1000">
                <a:solidFill>
                  <a:srgbClr val="E2E8F0"/>
                </a:solidFill>
                <a:latin typeface="Courier New"/>
              </a:defRPr>
            </a:pPr>
            <a:r>
              <a:t>-- FUNCTIONS: Lambda definitions + compiled WASM binaries</a:t>
            </a:r>
          </a:p>
          <a:p>
            <a:pPr>
              <a:spcAft>
                <a:spcPts val="100"/>
              </a:spcAft>
              <a:defRPr sz="1000">
                <a:solidFill>
                  <a:srgbClr val="E2E8F0"/>
                </a:solidFill>
                <a:latin typeface="Courier New"/>
              </a:defRPr>
            </a:pPr>
            <a:r>
              <a:t>CREATE TABLE functions (</a:t>
            </a:r>
          </a:p>
          <a:p>
            <a:pPr>
              <a:spcAft>
                <a:spcPts val="100"/>
              </a:spcAft>
              <a:defRPr sz="1000">
                <a:solidFill>
                  <a:srgbClr val="E2E8F0"/>
                </a:solidFill>
                <a:latin typeface="Courier New"/>
              </a:defRPr>
            </a:pPr>
            <a:r>
              <a:t>  id TEXT PRIMARY KEY, user_id UUID REFERENCES users(id),</a:t>
            </a:r>
          </a:p>
          <a:p>
            <a:pPr>
              <a:spcAft>
                <a:spcPts val="100"/>
              </a:spcAft>
              <a:defRPr sz="1000">
                <a:solidFill>
                  <a:srgbClr val="E2E8F0"/>
                </a:solidFill>
                <a:latin typeface="Courier New"/>
              </a:defRPr>
            </a:pPr>
            <a:r>
              <a:t>  name VARCHAR(255), runtime VARCHAR(50) DEFAULT 'c', memory_mb INT DEFAULT 128,</a:t>
            </a:r>
          </a:p>
          <a:p>
            <a:pPr>
              <a:spcAft>
                <a:spcPts val="100"/>
              </a:spcAft>
              <a:defRPr sz="1000">
                <a:solidFill>
                  <a:srgbClr val="E2E8F0"/>
                </a:solidFill>
                <a:latin typeface="Courier New"/>
              </a:defRPr>
            </a:pPr>
            <a:r>
              <a:t>  source_code TEXT, wasm_ref BYTEA,                    -- Base64 WASM binary</a:t>
            </a:r>
          </a:p>
          <a:p>
            <a:pPr>
              <a:spcAft>
                <a:spcPts val="100"/>
              </a:spcAft>
              <a:defRPr sz="1000">
                <a:solidFill>
                  <a:srgbClr val="E2E8F0"/>
                </a:solidFill>
                <a:latin typeface="Courier New"/>
              </a:defRPr>
            </a:pPr>
            <a:r>
              <a:t>  run_type VARCHAR(20) DEFAULT 'on-command',           -- 'on-command' | 'periodic'</a:t>
            </a:r>
          </a:p>
          <a:p>
            <a:pPr>
              <a:spcAft>
                <a:spcPts val="100"/>
              </a:spcAft>
              <a:defRPr sz="1000">
                <a:solidFill>
                  <a:srgbClr val="E2E8F0"/>
                </a:solidFill>
                <a:latin typeface="Courier New"/>
              </a:defRPr>
            </a:pPr>
            <a:r>
              <a:t>  cron_expression VARCHAR(100),                         -- e.g. '*/5 * * * *'</a:t>
            </a:r>
          </a:p>
          <a:p>
            <a:pPr>
              <a:spcAft>
                <a:spcPts val="100"/>
              </a:spcAft>
              <a:defRPr sz="1000">
                <a:solidFill>
                  <a:srgbClr val="E2E8F0"/>
                </a:solidFill>
                <a:latin typeface="Courier New"/>
              </a:defRPr>
            </a:pPr>
            <a:r>
              <a:t>  status VARCHAR(20), created_at TIMESTAMPTZ, updated_at TIMESTAMPTZ</a:t>
            </a:r>
          </a:p>
          <a:p>
            <a:pPr>
              <a:spcAft>
                <a:spcPts val="100"/>
              </a:spcAft>
              <a:defRPr sz="1000">
                <a:solidFill>
                  <a:srgbClr val="E2E8F0"/>
                </a:solidFill>
                <a:latin typeface="Courier New"/>
              </a:defRPr>
            </a:pPr>
            <a:r>
              <a:t>);</a:t>
            </a:r>
          </a:p>
          <a:p>
            <a:pPr>
              <a:spcAft>
                <a:spcPts val="100"/>
              </a:spcAft>
              <a:defRPr sz="1000">
                <a:solidFill>
                  <a:srgbClr val="E2E8F0"/>
                </a:solidFill>
                <a:latin typeface="Courier New"/>
              </a:defRPr>
            </a:pPr>
          </a:p>
          <a:p>
            <a:pPr>
              <a:spcAft>
                <a:spcPts val="100"/>
              </a:spcAft>
              <a:defRPr sz="1000">
                <a:solidFill>
                  <a:srgbClr val="E2E8F0"/>
                </a:solidFill>
                <a:latin typeface="Courier New"/>
              </a:defRPr>
            </a:pPr>
            <a:r>
              <a:t>-- EXECUTIONS: Complete invocation audit trail</a:t>
            </a:r>
          </a:p>
          <a:p>
            <a:pPr>
              <a:spcAft>
                <a:spcPts val="100"/>
              </a:spcAft>
              <a:defRPr sz="1000">
                <a:solidFill>
                  <a:srgbClr val="E2E8F0"/>
                </a:solidFill>
                <a:latin typeface="Courier New"/>
              </a:defRPr>
            </a:pPr>
            <a:r>
              <a:t>CREATE TABLE executions (</a:t>
            </a:r>
          </a:p>
          <a:p>
            <a:pPr>
              <a:spcAft>
                <a:spcPts val="100"/>
              </a:spcAft>
              <a:defRPr sz="1000">
                <a:solidFill>
                  <a:srgbClr val="E2E8F0"/>
                </a:solidFill>
                <a:latin typeface="Courier New"/>
              </a:defRPr>
            </a:pPr>
            <a:r>
              <a:t>  id UUID PRIMARY KEY, lambda_id TEXT REFERENCES functions(id),</a:t>
            </a:r>
          </a:p>
          <a:p>
            <a:pPr>
              <a:spcAft>
                <a:spcPts val="100"/>
              </a:spcAft>
              <a:defRPr sz="1000">
                <a:solidFill>
                  <a:srgbClr val="E2E8F0"/>
                </a:solidFill>
                <a:latin typeface="Courier New"/>
              </a:defRPr>
            </a:pPr>
            <a:r>
              <a:t>  reference_id TEXT, input JSONB, status VARCHAR(20), output JSONB,</a:t>
            </a:r>
          </a:p>
          <a:p>
            <a:pPr>
              <a:spcAft>
                <a:spcPts val="100"/>
              </a:spcAft>
              <a:defRPr sz="1000">
                <a:solidFill>
                  <a:srgbClr val="E2E8F0"/>
                </a:solidFill>
                <a:latin typeface="Courier New"/>
              </a:defRPr>
            </a:pPr>
            <a:r>
              <a:t>  error TEXT, started_at TIMESTAMPTZ, finished_at TIMESTAMPTZ,</a:t>
            </a:r>
          </a:p>
          <a:p>
            <a:pPr>
              <a:spcAft>
                <a:spcPts val="100"/>
              </a:spcAft>
              <a:defRPr sz="1000">
                <a:solidFill>
                  <a:srgbClr val="E2E8F0"/>
                </a:solidFill>
                <a:latin typeface="Courier New"/>
              </a:defRPr>
            </a:pPr>
            <a:r>
              <a:t>  duration_ms BIGINT, memory_used_mb INT</a:t>
            </a:r>
          </a:p>
          <a:p>
            <a:pPr>
              <a:spcAft>
                <a:spcPts val="100"/>
              </a:spcAft>
              <a:defRPr sz="1000">
                <a:solidFill>
                  <a:srgbClr val="E2E8F0"/>
                </a:solidFill>
                <a:latin typeface="Courier New"/>
              </a:defRPr>
            </a:pPr>
            <a:r>
              <a:t>);</a:t>
            </a:r>
          </a:p>
          <a:p>
            <a:pPr>
              <a:spcAft>
                <a:spcPts val="100"/>
              </a:spcAft>
              <a:defRPr sz="1000">
                <a:solidFill>
                  <a:srgbClr val="E2E8F0"/>
                </a:solidFill>
                <a:latin typeface="Courier New"/>
              </a:defRPr>
            </a:pPr>
          </a:p>
          <a:p>
            <a:pPr>
              <a:spcAft>
                <a:spcPts val="100"/>
              </a:spcAft>
              <a:defRPr sz="1000">
                <a:solidFill>
                  <a:srgbClr val="E2E8F0"/>
                </a:solidFill>
                <a:latin typeface="Courier New"/>
              </a:defRPr>
            </a:pPr>
            <a:r>
              <a:t>-- SINKS: Consumer devices       | LOGS: Structured observability</a:t>
            </a:r>
          </a:p>
          <a:p>
            <a:pPr>
              <a:spcAft>
                <a:spcPts val="100"/>
              </a:spcAft>
              <a:defRPr sz="1000">
                <a:solidFill>
                  <a:srgbClr val="E2E8F0"/>
                </a:solidFill>
                <a:latin typeface="Courier New"/>
              </a:defRPr>
            </a:pPr>
            <a:r>
              <a:t>-- POLICIES: Per-user quotas     | BILLING: Usage tracking per cycle</a:t>
            </a:r>
          </a:p>
          <a:p>
            <a:pPr>
              <a:spcAft>
                <a:spcPts val="100"/>
              </a:spcAft>
              <a:defRPr sz="1000">
                <a:solidFill>
                  <a:srgbClr val="E2E8F0"/>
                </a:solidFill>
                <a:latin typeface="Courier New"/>
              </a:defRPr>
            </a:pPr>
            <a:r>
              <a:t>-- Full CRUD via interfaces.Repository pattern — database is plug-and-play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19/22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End-to-End Execution Flow</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Complete journey: Developer writes code → Phone executes WASM → Result returned</a:t>
            </a:r>
          </a:p>
        </p:txBody>
      </p:sp>
      <p:sp>
        <p:nvSpPr>
          <p:cNvPr id="10" name="TextBox 9"/>
          <p:cNvSpPr txBox="1"/>
          <p:nvPr/>
        </p:nvSpPr>
        <p:spPr>
          <a:xfrm>
            <a:off x="731520" y="1554480"/>
            <a:ext cx="10515600" cy="4572000"/>
          </a:xfrm>
          <a:prstGeom prst="rect">
            <a:avLst/>
          </a:prstGeom>
          <a:noFill/>
        </p:spPr>
        <p:txBody>
          <a:bodyPr wrap="square">
            <a:spAutoFit/>
          </a:bodyPr>
          <a:lstStyle/>
          <a:p>
            <a:pPr>
              <a:spcAft>
                <a:spcPts val="700"/>
              </a:spcAft>
            </a:pPr>
            <a:r>
              <a:rPr sz="1400" b="1">
                <a:solidFill>
                  <a:srgbClr val="1E293B"/>
                </a:solidFill>
                <a:latin typeface="Calibri"/>
              </a:rPr>
              <a:t>• ① Developer Submits Code:  </a:t>
            </a:r>
            <a:r>
              <a:rPr sz="1100">
                <a:solidFill>
                  <a:srgbClr val="475569"/>
                </a:solidFill>
                <a:latin typeface="Calibri"/>
              </a:rPr>
              <a:t>Developer writes a C function (e.g., add(a,b) or image-to-PDF converter) via the React dashboard and clicks 'Deploy Function'. The source code is sent as a JSON payload to POST /api/v1/functions/create.</a:t>
            </a:r>
          </a:p>
          <a:p>
            <a:pPr>
              <a:spcAft>
                <a:spcPts val="700"/>
              </a:spcAft>
            </a:pPr>
            <a:r>
              <a:rPr sz="1400" b="1">
                <a:solidFill>
                  <a:srgbClr val="1E293B"/>
                </a:solidFill>
                <a:latin typeface="Calibri"/>
              </a:rPr>
              <a:t>• ② Server Compiles to WASM:  </a:t>
            </a:r>
            <a:r>
              <a:rPr sz="1100">
                <a:solidFill>
                  <a:srgbClr val="475569"/>
                </a:solidFill>
                <a:latin typeface="Calibri"/>
              </a:rPr>
              <a:t>Gateway queues the code for compilation. CompilerWorker dequeues it, runs wasi-sdk clang with 15+ safety flags, produces a 10-50 KB WASM binary, base64-encodes it, stores as BYTEA in PostgreSQL. Auto-activates the function after successful compilation.</a:t>
            </a:r>
          </a:p>
          <a:p>
            <a:pPr>
              <a:spcAft>
                <a:spcPts val="700"/>
              </a:spcAft>
            </a:pPr>
            <a:r>
              <a:rPr sz="1400" b="1">
                <a:solidFill>
                  <a:srgbClr val="1E293B"/>
                </a:solidFill>
                <a:latin typeface="Calibri"/>
              </a:rPr>
              <a:t>• ③ Developer Invokes Function:  </a:t>
            </a:r>
            <a:r>
              <a:rPr sz="1100">
                <a:solidFill>
                  <a:srgbClr val="475569"/>
                </a:solidFill>
                <a:latin typeface="Calibri"/>
              </a:rPr>
              <a:t>POST /api/v1/functions/invoke with {function_id, input}. Orchestrator validates activation status, creates an Execution record (status='pending'), and dispatches to the Queue Service based on memory requirements.</a:t>
            </a:r>
          </a:p>
          <a:p>
            <a:pPr>
              <a:spcAft>
                <a:spcPts val="700"/>
              </a:spcAft>
            </a:pPr>
            <a:r>
              <a:rPr sz="1400" b="1">
                <a:solidFill>
                  <a:srgbClr val="1E293B"/>
                </a:solidFill>
                <a:latin typeface="Calibri"/>
              </a:rPr>
              <a:t>• ④ Phone Pulls and Executes:  </a:t>
            </a:r>
            <a:r>
              <a:rPr sz="1100">
                <a:solidFill>
                  <a:srgbClr val="475569"/>
                </a:solidFill>
                <a:latin typeface="Calibri"/>
              </a:rPr>
              <a:t>A connected Android phone sends a heartbeat via WebSocket with its available RAM. Sink Manager matches capacity against queued jobs. If a match is found, the entire WASM binary is sent inline in the WebSocket payload. Phone's WAMR runtime loads, instantiates, executes, and returns the result.</a:t>
            </a:r>
          </a:p>
          <a:p>
            <a:pPr>
              <a:spcAft>
                <a:spcPts val="700"/>
              </a:spcAft>
            </a:pPr>
            <a:r>
              <a:rPr sz="1400" b="1">
                <a:solidFill>
                  <a:srgbClr val="1E293B"/>
                </a:solidFill>
                <a:latin typeface="Calibri"/>
              </a:rPr>
              <a:t>• ⑤ Result Delivered:  </a:t>
            </a:r>
            <a:r>
              <a:rPr sz="1100">
                <a:solidFill>
                  <a:srgbClr val="475569"/>
                </a:solidFill>
                <a:latin typeface="Calibri"/>
              </a:rPr>
              <a:t>Phone sends task_result via WebSocket. Server updates Execution record to 'completed', unblocks any synchronous HTTP waiters. Developer sees the result in the dashboard. For file outputs (e.g., PDF), the file is uploaded to /api/v1/files and a download URL is returned.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20/22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Completed Proofs of Concept</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Working demonstrations that validate the full distributed pipeline</a:t>
            </a:r>
          </a:p>
        </p:txBody>
      </p:sp>
      <p:sp>
        <p:nvSpPr>
          <p:cNvPr id="10" name="Rounded Rectangle 9"/>
          <p:cNvSpPr/>
          <p:nvPr/>
        </p:nvSpPr>
        <p:spPr>
          <a:xfrm>
            <a:off x="457200" y="1645920"/>
            <a:ext cx="54864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45920"/>
            <a:ext cx="5486400" cy="457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755648"/>
            <a:ext cx="5157216" cy="320040"/>
          </a:xfrm>
          <a:prstGeom prst="rect">
            <a:avLst/>
          </a:prstGeom>
          <a:noFill/>
        </p:spPr>
        <p:txBody>
          <a:bodyPr wrap="square">
            <a:spAutoFit/>
          </a:bodyPr>
          <a:lstStyle/>
          <a:p>
            <a:pPr>
              <a:defRPr sz="1300" b="1">
                <a:solidFill>
                  <a:srgbClr val="22C55E"/>
                </a:solidFill>
                <a:latin typeface="Calibri"/>
              </a:defRPr>
            </a:pPr>
            <a:r>
              <a:t>✅ Implemented &amp; Working</a:t>
            </a:r>
          </a:p>
        </p:txBody>
      </p:sp>
      <p:sp>
        <p:nvSpPr>
          <p:cNvPr id="13" name="TextBox 12"/>
          <p:cNvSpPr txBox="1"/>
          <p:nvPr/>
        </p:nvSpPr>
        <p:spPr>
          <a:xfrm>
            <a:off x="621792" y="2084832"/>
            <a:ext cx="5157216" cy="4023360"/>
          </a:xfrm>
          <a:prstGeom prst="rect">
            <a:avLst/>
          </a:prstGeom>
          <a:noFill/>
        </p:spPr>
        <p:txBody>
          <a:bodyPr wrap="square">
            <a:spAutoFit/>
          </a:bodyPr>
          <a:lstStyle/>
          <a:p>
            <a:pPr>
              <a:spcAft>
                <a:spcPts val="300"/>
              </a:spcAft>
              <a:defRPr sz="1100">
                <a:solidFill>
                  <a:srgbClr val="475569"/>
                </a:solidFill>
                <a:latin typeface="Calibri"/>
              </a:defRPr>
            </a:pPr>
            <a:r>
              <a:t>Phase 1: Lambda CRUD + full WASM compilation pipeline</a:t>
            </a:r>
          </a:p>
          <a:p>
            <a:pPr>
              <a:spcAft>
                <a:spcPts val="300"/>
              </a:spcAft>
              <a:defRPr sz="1100">
                <a:solidFill>
                  <a:srgbClr val="475569"/>
                </a:solidFill>
                <a:latin typeface="Calibri"/>
              </a:defRPr>
            </a:pPr>
            <a:r>
              <a:t>Phase 2: CRON scheduler (pause / resume / status)</a:t>
            </a:r>
          </a:p>
          <a:p>
            <a:pPr>
              <a:spcAft>
                <a:spcPts val="300"/>
              </a:spcAft>
              <a:defRPr sz="1100">
                <a:solidFill>
                  <a:srgbClr val="475569"/>
                </a:solidFill>
                <a:latin typeface="Calibri"/>
              </a:defRPr>
            </a:pPr>
            <a:r>
              <a:t>Phase 3: WebSocket real-time bidirectional task dispatch</a:t>
            </a:r>
          </a:p>
          <a:p>
            <a:pPr>
              <a:spcAft>
                <a:spcPts val="300"/>
              </a:spcAft>
              <a:defRPr sz="1100">
                <a:solidFill>
                  <a:srgbClr val="475569"/>
                </a:solidFill>
                <a:latin typeface="Calibri"/>
              </a:defRPr>
            </a:pPr>
            <a:r>
              <a:t>Phase 4: Observability (structured logs, billing, usage analytics)</a:t>
            </a:r>
          </a:p>
          <a:p>
            <a:pPr>
              <a:spcAft>
                <a:spcPts val="300"/>
              </a:spcAft>
              <a:defRPr sz="1100">
                <a:solidFill>
                  <a:srgbClr val="475569"/>
                </a:solidFill>
                <a:latin typeface="Calibri"/>
              </a:defRPr>
            </a:pPr>
            <a:r>
              <a:t>Phase 5: Binary file I/O (PDF generation proof of concept)</a:t>
            </a:r>
          </a:p>
          <a:p>
            <a:pPr>
              <a:spcAft>
                <a:spcPts val="300"/>
              </a:spcAft>
              <a:defRPr sz="1100">
                <a:solidFill>
                  <a:srgbClr val="475569"/>
                </a:solidFill>
                <a:latin typeface="Calibri"/>
              </a:defRPr>
            </a:pPr>
          </a:p>
          <a:p>
            <a:pPr>
              <a:spcAft>
                <a:spcPts val="300"/>
              </a:spcAft>
              <a:defRPr sz="1100">
                <a:solidFill>
                  <a:srgbClr val="475569"/>
                </a:solidFill>
                <a:latin typeface="Calibri"/>
              </a:defRPr>
            </a:pPr>
            <a:r>
              <a:t>Key Working Demos:</a:t>
            </a:r>
          </a:p>
          <a:p>
            <a:pPr>
              <a:spcAft>
                <a:spcPts val="300"/>
              </a:spcAft>
              <a:defRPr sz="1100">
                <a:solidFill>
                  <a:srgbClr val="475569"/>
                </a:solidFill>
                <a:latin typeface="Calibri"/>
              </a:defRPr>
            </a:pPr>
            <a:r>
              <a:t>• add(a, b): C code → WASM → Android execution → result in 12ms</a:t>
            </a:r>
          </a:p>
          <a:p>
            <a:pPr>
              <a:spcAft>
                <a:spcPts val="300"/>
              </a:spcAft>
              <a:defRPr sz="1100">
                <a:solidFill>
                  <a:srgbClr val="475569"/>
                </a:solidFill>
                <a:latin typeface="Calibri"/>
              </a:defRPr>
            </a:pPr>
            <a:r>
              <a:t>• imgtopdf4: Image URL fetch → JPEG parse → PDF embed → file upload</a:t>
            </a:r>
          </a:p>
          <a:p>
            <a:pPr>
              <a:spcAft>
                <a:spcPts val="300"/>
              </a:spcAft>
              <a:defRPr sz="1100">
                <a:solidFill>
                  <a:srgbClr val="475569"/>
                </a:solidFill>
                <a:latin typeface="Calibri"/>
              </a:defRPr>
            </a:pPr>
            <a:r>
              <a:t>• texttopdf2: Text content → PDF generation → binary download</a:t>
            </a:r>
          </a:p>
          <a:p>
            <a:pPr>
              <a:spcAft>
                <a:spcPts val="300"/>
              </a:spcAft>
              <a:defRPr sz="1100">
                <a:solidFill>
                  <a:srgbClr val="475569"/>
                </a:solidFill>
                <a:latin typeface="Calibri"/>
              </a:defRPr>
            </a:pPr>
            <a:r>
              <a:t>• Full React dashboard with AWS Lambda UX parity</a:t>
            </a:r>
          </a:p>
          <a:p>
            <a:pPr>
              <a:spcAft>
                <a:spcPts val="300"/>
              </a:spcAft>
              <a:defRPr sz="1100">
                <a:solidFill>
                  <a:srgbClr val="475569"/>
                </a:solidFill>
                <a:latin typeface="Calibri"/>
              </a:defRPr>
            </a:pPr>
            <a:r>
              <a:t>• Google OAuth + JWT authentication end-to-end</a:t>
            </a:r>
          </a:p>
          <a:p>
            <a:pPr>
              <a:spcAft>
                <a:spcPts val="300"/>
              </a:spcAft>
              <a:defRPr sz="1100">
                <a:solidFill>
                  <a:srgbClr val="475569"/>
                </a:solidFill>
                <a:latin typeface="Calibri"/>
              </a:defRPr>
            </a:pPr>
            <a:r>
              <a:t>• 60 deployed functions, 173+ invocations tracked in production</a:t>
            </a:r>
          </a:p>
        </p:txBody>
      </p:sp>
      <p:sp>
        <p:nvSpPr>
          <p:cNvPr id="14" name="Rounded Rectangle 13"/>
          <p:cNvSpPr/>
          <p:nvPr/>
        </p:nvSpPr>
        <p:spPr>
          <a:xfrm>
            <a:off x="6217920" y="1645920"/>
            <a:ext cx="54864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645920"/>
            <a:ext cx="54864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755648"/>
            <a:ext cx="5157216" cy="320040"/>
          </a:xfrm>
          <a:prstGeom prst="rect">
            <a:avLst/>
          </a:prstGeom>
          <a:noFill/>
        </p:spPr>
        <p:txBody>
          <a:bodyPr wrap="square">
            <a:spAutoFit/>
          </a:bodyPr>
          <a:lstStyle/>
          <a:p>
            <a:pPr>
              <a:defRPr sz="1300" b="1">
                <a:solidFill>
                  <a:srgbClr val="F59E0B"/>
                </a:solidFill>
                <a:latin typeface="Calibri"/>
              </a:defRPr>
            </a:pPr>
            <a:r>
              <a:t>📊 Project Metrics</a:t>
            </a:r>
          </a:p>
        </p:txBody>
      </p:sp>
      <p:sp>
        <p:nvSpPr>
          <p:cNvPr id="17" name="TextBox 16"/>
          <p:cNvSpPr txBox="1"/>
          <p:nvPr/>
        </p:nvSpPr>
        <p:spPr>
          <a:xfrm>
            <a:off x="6382512" y="2084832"/>
            <a:ext cx="5157216" cy="4023360"/>
          </a:xfrm>
          <a:prstGeom prst="rect">
            <a:avLst/>
          </a:prstGeom>
          <a:noFill/>
        </p:spPr>
        <p:txBody>
          <a:bodyPr wrap="square">
            <a:spAutoFit/>
          </a:bodyPr>
          <a:lstStyle/>
          <a:p>
            <a:pPr>
              <a:spcAft>
                <a:spcPts val="300"/>
              </a:spcAft>
              <a:defRPr sz="1100">
                <a:solidFill>
                  <a:srgbClr val="475569"/>
                </a:solidFill>
                <a:latin typeface="Calibri"/>
              </a:defRPr>
            </a:pPr>
            <a:r>
              <a:t>Central Server: ~15,000 LoC (Go)</a:t>
            </a:r>
          </a:p>
          <a:p>
            <a:pPr>
              <a:spcAft>
                <a:spcPts val="300"/>
              </a:spcAft>
              <a:defRPr sz="1100">
                <a:solidFill>
                  <a:srgbClr val="475569"/>
                </a:solidFill>
                <a:latin typeface="Calibri"/>
              </a:defRPr>
            </a:pPr>
            <a:r>
              <a:t>  7 internal packages, 25+ REST endpoints</a:t>
            </a:r>
          </a:p>
          <a:p>
            <a:pPr>
              <a:spcAft>
                <a:spcPts val="300"/>
              </a:spcAft>
              <a:defRPr sz="1100">
                <a:solidFill>
                  <a:srgbClr val="475569"/>
                </a:solidFill>
                <a:latin typeface="Calibri"/>
              </a:defRPr>
            </a:pPr>
            <a:r>
              <a:t>  1 WebSocket endpoint, 4 message types</a:t>
            </a:r>
          </a:p>
          <a:p>
            <a:pPr>
              <a:spcAft>
                <a:spcPts val="300"/>
              </a:spcAft>
              <a:defRPr sz="1100">
                <a:solidFill>
                  <a:srgbClr val="475569"/>
                </a:solidFill>
                <a:latin typeface="Calibri"/>
              </a:defRPr>
            </a:pPr>
          </a:p>
          <a:p>
            <a:pPr>
              <a:spcAft>
                <a:spcPts val="300"/>
              </a:spcAft>
              <a:defRPr sz="1100">
                <a:solidFill>
                  <a:srgbClr val="475569"/>
                </a:solidFill>
                <a:latin typeface="Calibri"/>
              </a:defRPr>
            </a:pPr>
            <a:r>
              <a:t>React Dashboard: ~5,000 LoC (TypeScript)</a:t>
            </a:r>
          </a:p>
          <a:p>
            <a:pPr>
              <a:spcAft>
                <a:spcPts val="300"/>
              </a:spcAft>
              <a:defRPr sz="1100">
                <a:solidFill>
                  <a:srgbClr val="475569"/>
                </a:solidFill>
                <a:latin typeface="Calibri"/>
              </a:defRPr>
            </a:pPr>
            <a:r>
              <a:t>  12 pages, 30+ reusable components</a:t>
            </a:r>
          </a:p>
          <a:p>
            <a:pPr>
              <a:spcAft>
                <a:spcPts val="300"/>
              </a:spcAft>
              <a:defRPr sz="1100">
                <a:solidFill>
                  <a:srgbClr val="475569"/>
                </a:solidFill>
                <a:latin typeface="Calibri"/>
              </a:defRPr>
            </a:pPr>
            <a:r>
              <a:t>  Real-time log streaming via polling</a:t>
            </a:r>
          </a:p>
          <a:p>
            <a:pPr>
              <a:spcAft>
                <a:spcPts val="300"/>
              </a:spcAft>
              <a:defRPr sz="1100">
                <a:solidFill>
                  <a:srgbClr val="475569"/>
                </a:solidFill>
                <a:latin typeface="Calibri"/>
              </a:defRPr>
            </a:pPr>
          </a:p>
          <a:p>
            <a:pPr>
              <a:spcAft>
                <a:spcPts val="300"/>
              </a:spcAft>
              <a:defRPr sz="1100">
                <a:solidFill>
                  <a:srgbClr val="475569"/>
                </a:solidFill>
                <a:latin typeface="Calibri"/>
              </a:defRPr>
            </a:pPr>
            <a:r>
              <a:t>Mobile Node: ~3,000 LoC (Dart/Flutter)</a:t>
            </a:r>
          </a:p>
          <a:p>
            <a:pPr>
              <a:spcAft>
                <a:spcPts val="300"/>
              </a:spcAft>
              <a:defRPr sz="1100">
                <a:solidFill>
                  <a:srgbClr val="475569"/>
                </a:solidFill>
                <a:latin typeface="Calibri"/>
              </a:defRPr>
            </a:pPr>
            <a:r>
              <a:t>  31 KB C++ JNI bridge (native-lib.cpp)</a:t>
            </a:r>
          </a:p>
          <a:p>
            <a:pPr>
              <a:spcAft>
                <a:spcPts val="300"/>
              </a:spcAft>
              <a:defRPr sz="1100">
                <a:solidFill>
                  <a:srgbClr val="475569"/>
                </a:solidFill>
                <a:latin typeface="Calibri"/>
              </a:defRPr>
            </a:pPr>
            <a:r>
              <a:t>  AIDL Binder IPC for process isolation</a:t>
            </a:r>
          </a:p>
          <a:p>
            <a:pPr>
              <a:spcAft>
                <a:spcPts val="300"/>
              </a:spcAft>
              <a:defRPr sz="1100">
                <a:solidFill>
                  <a:srgbClr val="475569"/>
                </a:solidFill>
                <a:latin typeface="Calibri"/>
              </a:defRPr>
            </a:pPr>
          </a:p>
          <a:p>
            <a:pPr>
              <a:spcAft>
                <a:spcPts val="300"/>
              </a:spcAft>
              <a:defRPr sz="1100">
                <a:solidFill>
                  <a:srgbClr val="475569"/>
                </a:solidFill>
                <a:latin typeface="Calibri"/>
              </a:defRPr>
            </a:pPr>
            <a:r>
              <a:t>WASM Binaries: 10–50 KB (production)</a:t>
            </a:r>
          </a:p>
          <a:p>
            <a:pPr>
              <a:spcAft>
                <a:spcPts val="300"/>
              </a:spcAft>
              <a:defRPr sz="1100">
                <a:solidFill>
                  <a:srgbClr val="475569"/>
                </a:solidFill>
                <a:latin typeface="Calibri"/>
              </a:defRPr>
            </a:pPr>
            <a:r>
              <a:t>Cold Start: &lt;1ms module load time</a:t>
            </a:r>
          </a:p>
          <a:p>
            <a:pPr>
              <a:spcAft>
                <a:spcPts val="300"/>
              </a:spcAft>
              <a:defRPr sz="1100">
                <a:solidFill>
                  <a:srgbClr val="475569"/>
                </a:solidFill>
                <a:latin typeface="Calibri"/>
              </a:defRPr>
            </a:pPr>
            <a:r>
              <a:t>Target Throughput: ~250K jobs/sec (theoretical)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21/22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Key Design Decisions &amp; Tradeoffs</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Why we chose this architecture over alternatives — deliberate engineering choices</a:t>
            </a:r>
          </a:p>
        </p:txBody>
      </p:sp>
      <p:sp>
        <p:nvSpPr>
          <p:cNvPr id="10" name="TextBox 9"/>
          <p:cNvSpPr txBox="1"/>
          <p:nvPr/>
        </p:nvSpPr>
        <p:spPr>
          <a:xfrm>
            <a:off x="731520" y="1554480"/>
            <a:ext cx="10515600" cy="4572000"/>
          </a:xfrm>
          <a:prstGeom prst="rect">
            <a:avLst/>
          </a:prstGeom>
          <a:noFill/>
        </p:spPr>
        <p:txBody>
          <a:bodyPr wrap="square">
            <a:spAutoFit/>
          </a:bodyPr>
          <a:lstStyle/>
          <a:p>
            <a:pPr>
              <a:spcAft>
                <a:spcPts val="700"/>
              </a:spcAft>
            </a:pPr>
            <a:r>
              <a:rPr sz="1400" b="1">
                <a:solidFill>
                  <a:srgbClr val="1E293B"/>
                </a:solidFill>
                <a:latin typeface="Calibri"/>
              </a:rPr>
              <a:t>• Monolithic Server (not microservices):  </a:t>
            </a:r>
            <a:r>
              <a:rPr sz="1100">
                <a:solidFill>
                  <a:srgbClr val="475569"/>
                </a:solidFill>
                <a:latin typeface="Calibri"/>
              </a:rPr>
              <a:t>The pull-based dispatcher requires instant matching between heartbeats and queued jobs. A single Go binary eliminates inter-service network hops (5-30ms per gRPC call). Queue memory, storage, and dispatch APIs in one process = sub-ms dispatch. Unified type system (Go structs) prevents schema drift. Single binary deployment — critical for a small research team.</a:t>
            </a:r>
          </a:p>
          <a:p>
            <a:pPr>
              <a:spcAft>
                <a:spcPts val="700"/>
              </a:spcAft>
            </a:pPr>
            <a:r>
              <a:rPr sz="1400" b="1">
                <a:solidFill>
                  <a:srgbClr val="1E293B"/>
                </a:solidFill>
                <a:latin typeface="Calibri"/>
              </a:rPr>
              <a:t>• Pull-Based Bulletin Board (not Push):  </a:t>
            </a:r>
            <a:r>
              <a:rPr sz="1100">
                <a:solidFill>
                  <a:srgbClr val="475569"/>
                </a:solidFill>
                <a:latin typeface="Calibri"/>
              </a:rPr>
              <a:t>Server tracks zero device connections — no connection tables, no heartbeat timers, no device registries. If a phone dies, nothing happens on the server side. No thundering herd, no cascade failures, no connection cleanup. Inherently self-healing. Evolved through 7 algorithm iterations (from priority queue → bucket reservation → segment tree → bitmask → pull-based).</a:t>
            </a:r>
          </a:p>
          <a:p>
            <a:pPr>
              <a:spcAft>
                <a:spcPts val="700"/>
              </a:spcAft>
            </a:pPr>
            <a:r>
              <a:rPr sz="1400" b="1">
                <a:solidFill>
                  <a:srgbClr val="1E293B"/>
                </a:solidFill>
                <a:latin typeface="Calibri"/>
              </a:rPr>
              <a:t>• Interpreter-Only WAMR (no AOT/JIT):  </a:t>
            </a:r>
            <a:r>
              <a:rPr sz="1100">
                <a:solidFill>
                  <a:srgbClr val="475569"/>
                </a:solidFill>
                <a:latin typeface="Calibri"/>
              </a:rPr>
              <a:t>Reduced binary size and attack surface. Tight execution control — every instruction goes through the interpreter. No native code generation that could be exploited. Well-suited for mobile sandboxed execution. Tradeoff: slower than AOT, but security &gt; speed for untrusted code.</a:t>
            </a:r>
          </a:p>
          <a:p>
            <a:pPr>
              <a:spcAft>
                <a:spcPts val="700"/>
              </a:spcAft>
            </a:pPr>
            <a:r>
              <a:rPr sz="1400" b="1">
                <a:solidFill>
                  <a:srgbClr val="1E293B"/>
                </a:solidFill>
                <a:latin typeface="Calibri"/>
              </a:rPr>
              <a:t>• Stateless Per-Call Execution:  </a:t>
            </a:r>
            <a:r>
              <a:rPr sz="1100">
                <a:solidFill>
                  <a:srgbClr val="475569"/>
                </a:solidFill>
                <a:latin typeface="Calibri"/>
              </a:rPr>
              <a:t>Module loaded and destroyed per call — no residual state between invocations. Extra cost: WASM bytes copied across Binder + JNI boundaries each time. Benefit: strong isolation, no state leakage between different users' code, simplified error recovery.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9144000" cy="320040"/>
          </a:xfrm>
          <a:prstGeom prst="rect">
            <a:avLst/>
          </a:prstGeom>
          <a:noFill/>
        </p:spPr>
        <p:txBody>
          <a:bodyPr wrap="none">
            <a:spAutoFit/>
          </a:bodyPr>
          <a:lstStyle/>
          <a:p>
            <a:pPr>
              <a:defRPr sz="900">
                <a:solidFill>
                  <a:srgbClr val="94A3B8"/>
                </a:solidFill>
                <a:latin typeface="Calibri"/>
              </a:defRPr>
            </a:pPr>
            <a:r>
              <a:t>MILF · Mobile Infra for Lambdas and Files</a:t>
            </a:r>
          </a:p>
        </p:txBody>
      </p:sp>
      <p:sp>
        <p:nvSpPr>
          <p:cNvPr id="5" name="TextBox 4">
            <a:hlinkClick r:id="rId2"/>
          </p:cNvPr>
          <p:cNvSpPr txBox="1"/>
          <p:nvPr/>
        </p:nvSpPr>
        <p:spPr>
          <a:xfrm>
            <a:off x="9052560" y="6446520"/>
            <a:ext cx="1188720" cy="320040"/>
          </a:xfrm>
          <a:prstGeom prst="rect">
            <a:avLst/>
          </a:prstGeom>
          <a:noFill/>
        </p:spPr>
        <p:txBody>
          <a:bodyPr wrap="none">
            <a:spAutoFit/>
          </a:bodyPr>
          <a:lstStyle/>
          <a:p>
            <a:pPr>
              <a:defRPr sz="900" u="sng">
                <a:solidFill>
                  <a:srgbClr val="94A3B8"/>
                </a:solidFill>
                <a:latin typeface="Calibri"/>
              </a:defRPr>
            </a:pPr>
            <a:r>
              <a:t>Dashboard</a:t>
            </a:r>
          </a:p>
        </p:txBody>
      </p:sp>
      <p:sp>
        <p:nvSpPr>
          <p:cNvPr id="6" name="TextBox 5">
            <a:hlinkClick action="ppaction://hlinksldjump" r:id="rId3"/>
          </p:cNvPr>
          <p:cNvSpPr txBox="1"/>
          <p:nvPr/>
        </p:nvSpPr>
        <p:spPr>
          <a:xfrm>
            <a:off x="10332720" y="6446520"/>
            <a:ext cx="731520" cy="320040"/>
          </a:xfrm>
          <a:prstGeom prst="rect">
            <a:avLst/>
          </a:prstGeom>
          <a:noFill/>
        </p:spPr>
        <p:txBody>
          <a:bodyPr wrap="none">
            <a:spAutoFit/>
          </a:bodyPr>
          <a:lstStyle/>
          <a:p>
            <a:pPr algn="r">
              <a:defRPr sz="900" u="sng">
                <a:solidFill>
                  <a:srgbClr val="94A3B8"/>
                </a:solidFill>
                <a:latin typeface="Calibri"/>
              </a:defRPr>
            </a:pPr>
            <a:r>
              <a:t>Title</a:t>
            </a:r>
          </a:p>
        </p:txBody>
      </p:sp>
      <p:sp>
        <p:nvSpPr>
          <p:cNvPr id="7" name="TextBox 6"/>
          <p:cNvSpPr txBox="1"/>
          <p:nvPr/>
        </p:nvSpPr>
        <p:spPr>
          <a:xfrm>
            <a:off x="11155680" y="6446520"/>
            <a:ext cx="914400" cy="320040"/>
          </a:xfrm>
          <a:prstGeom prst="rect">
            <a:avLst/>
          </a:prstGeom>
          <a:noFill/>
        </p:spPr>
        <p:txBody>
          <a:bodyPr wrap="none">
            <a:spAutoFit/>
          </a:bodyPr>
          <a:lstStyle/>
          <a:p>
            <a:pPr algn="r">
              <a:defRPr sz="900">
                <a:solidFill>
                  <a:srgbClr val="94A3B8"/>
                </a:solidFill>
                <a:latin typeface="Calibri"/>
              </a:defRPr>
            </a:pPr>
            <a:r>
              <a:t>22/22</a:t>
            </a:r>
          </a:p>
        </p:txBody>
      </p:sp>
      <p:sp>
        <p:nvSpPr>
          <p:cNvPr id="8" name="TextBox 7"/>
          <p:cNvSpPr txBox="1"/>
          <p:nvPr/>
        </p:nvSpPr>
        <p:spPr>
          <a:xfrm>
            <a:off x="731520" y="228600"/>
            <a:ext cx="10058400" cy="640080"/>
          </a:xfrm>
          <a:prstGeom prst="rect">
            <a:avLst/>
          </a:prstGeom>
          <a:noFill/>
        </p:spPr>
        <p:txBody>
          <a:bodyPr wrap="square">
            <a:spAutoFit/>
          </a:bodyPr>
          <a:lstStyle/>
          <a:p>
            <a:pPr>
              <a:defRPr sz="3400" b="1">
                <a:solidFill>
                  <a:srgbClr val="1E293B"/>
                </a:solidFill>
                <a:latin typeface="Calibri"/>
              </a:defRPr>
            </a:pPr>
            <a:r>
              <a:t>Technology Stack &amp; Future Roadmap</a:t>
            </a:r>
          </a:p>
        </p:txBody>
      </p:sp>
      <p:sp>
        <p:nvSpPr>
          <p:cNvPr id="9" name="TextBox 8"/>
          <p:cNvSpPr txBox="1"/>
          <p:nvPr/>
        </p:nvSpPr>
        <p:spPr>
          <a:xfrm>
            <a:off x="731520" y="868680"/>
            <a:ext cx="10058400" cy="411480"/>
          </a:xfrm>
          <a:prstGeom prst="rect">
            <a:avLst/>
          </a:prstGeom>
          <a:noFill/>
        </p:spPr>
        <p:txBody>
          <a:bodyPr wrap="square">
            <a:spAutoFit/>
          </a:bodyPr>
          <a:lstStyle/>
          <a:p>
            <a:pPr>
              <a:defRPr sz="1500">
                <a:solidFill>
                  <a:srgbClr val="475569"/>
                </a:solidFill>
                <a:latin typeface="Calibri"/>
              </a:defRPr>
            </a:pPr>
            <a:r>
              <a:t>What powers MILF today and where we are headed next</a:t>
            </a:r>
          </a:p>
        </p:txBody>
      </p:sp>
      <p:sp>
        <p:nvSpPr>
          <p:cNvPr id="10" name="Rounded Rectangle 9"/>
          <p:cNvSpPr/>
          <p:nvPr/>
        </p:nvSpPr>
        <p:spPr>
          <a:xfrm>
            <a:off x="457200" y="1645920"/>
            <a:ext cx="548640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45920"/>
            <a:ext cx="54864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755648"/>
            <a:ext cx="5157216" cy="320040"/>
          </a:xfrm>
          <a:prstGeom prst="rect">
            <a:avLst/>
          </a:prstGeom>
          <a:noFill/>
        </p:spPr>
        <p:txBody>
          <a:bodyPr wrap="square">
            <a:spAutoFit/>
          </a:bodyPr>
          <a:lstStyle/>
          <a:p>
            <a:pPr>
              <a:defRPr sz="1300" b="1">
                <a:solidFill>
                  <a:srgbClr val="3B82F6"/>
                </a:solidFill>
                <a:latin typeface="Calibri"/>
              </a:defRPr>
            </a:pPr>
            <a:r>
              <a:t>Technology Stack</a:t>
            </a:r>
          </a:p>
        </p:txBody>
      </p:sp>
      <p:sp>
        <p:nvSpPr>
          <p:cNvPr id="13" name="TextBox 12"/>
          <p:cNvSpPr txBox="1"/>
          <p:nvPr/>
        </p:nvSpPr>
        <p:spPr>
          <a:xfrm>
            <a:off x="621792" y="2084832"/>
            <a:ext cx="5157216" cy="1280160"/>
          </a:xfrm>
          <a:prstGeom prst="rect">
            <a:avLst/>
          </a:prstGeom>
          <a:noFill/>
        </p:spPr>
        <p:txBody>
          <a:bodyPr wrap="square">
            <a:spAutoFit/>
          </a:bodyPr>
          <a:lstStyle/>
          <a:p>
            <a:pPr>
              <a:spcAft>
                <a:spcPts val="300"/>
              </a:spcAft>
              <a:defRPr sz="1100">
                <a:solidFill>
                  <a:srgbClr val="475569"/>
                </a:solidFill>
                <a:latin typeface="Calibri"/>
              </a:defRPr>
            </a:pPr>
            <a:r>
              <a:t>Backend: Go 1.21+ · net/http stdlib · gorilla/websocket · PostgreSQL · JWT · slog</a:t>
            </a:r>
          </a:p>
          <a:p>
            <a:pPr>
              <a:spcAft>
                <a:spcPts val="300"/>
              </a:spcAft>
              <a:defRPr sz="1100">
                <a:solidFill>
                  <a:srgbClr val="475569"/>
                </a:solidFill>
                <a:latin typeface="Calibri"/>
              </a:defRPr>
            </a:pPr>
            <a:r>
              <a:t>Frontend: React 18 · Vite 5 · TypeScript · TailwindCSS · ShadcnUI · Recharts</a:t>
            </a:r>
          </a:p>
          <a:p>
            <a:pPr>
              <a:spcAft>
                <a:spcPts val="300"/>
              </a:spcAft>
              <a:defRPr sz="1100">
                <a:solidFill>
                  <a:srgbClr val="475569"/>
                </a:solidFill>
                <a:latin typeface="Calibri"/>
              </a:defRPr>
            </a:pPr>
            <a:r>
              <a:t>Mobile: Flutter 3.x · Kotlin · C++ (JNI) · WAMR (WebAssembly Micro Runtime)</a:t>
            </a:r>
          </a:p>
          <a:p>
            <a:pPr>
              <a:spcAft>
                <a:spcPts val="300"/>
              </a:spcAft>
              <a:defRPr sz="1100">
                <a:solidFill>
                  <a:srgbClr val="475569"/>
                </a:solidFill>
                <a:latin typeface="Calibri"/>
              </a:defRPr>
            </a:pPr>
            <a:r>
              <a:t>Compiler: wasi-sdk clang · --target=wasm32-wasi · Custom common_headers (milf.h, pdf.h)</a:t>
            </a:r>
          </a:p>
        </p:txBody>
      </p:sp>
      <p:sp>
        <p:nvSpPr>
          <p:cNvPr id="14" name="Rounded Rectangle 13"/>
          <p:cNvSpPr/>
          <p:nvPr/>
        </p:nvSpPr>
        <p:spPr>
          <a:xfrm>
            <a:off x="6217920" y="1645920"/>
            <a:ext cx="548640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645920"/>
            <a:ext cx="5486400" cy="45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755648"/>
            <a:ext cx="5157216" cy="320040"/>
          </a:xfrm>
          <a:prstGeom prst="rect">
            <a:avLst/>
          </a:prstGeom>
          <a:noFill/>
        </p:spPr>
        <p:txBody>
          <a:bodyPr wrap="square">
            <a:spAutoFit/>
          </a:bodyPr>
          <a:lstStyle/>
          <a:p>
            <a:pPr>
              <a:defRPr sz="1300" b="1">
                <a:solidFill>
                  <a:srgbClr val="6366F1"/>
                </a:solidFill>
                <a:latin typeface="Calibri"/>
              </a:defRPr>
            </a:pPr>
            <a:r>
              <a:t>Research References</a:t>
            </a:r>
          </a:p>
        </p:txBody>
      </p:sp>
      <p:sp>
        <p:nvSpPr>
          <p:cNvPr id="17" name="TextBox 16"/>
          <p:cNvSpPr txBox="1"/>
          <p:nvPr/>
        </p:nvSpPr>
        <p:spPr>
          <a:xfrm>
            <a:off x="6382512" y="2084832"/>
            <a:ext cx="5157216" cy="1280160"/>
          </a:xfrm>
          <a:prstGeom prst="rect">
            <a:avLst/>
          </a:prstGeom>
          <a:noFill/>
        </p:spPr>
        <p:txBody>
          <a:bodyPr wrap="square">
            <a:spAutoFit/>
          </a:bodyPr>
          <a:lstStyle/>
          <a:p>
            <a:pPr>
              <a:spcAft>
                <a:spcPts val="300"/>
              </a:spcAft>
              <a:defRPr sz="1100">
                <a:solidFill>
                  <a:srgbClr val="475569"/>
                </a:solidFill>
                <a:latin typeface="Calibri"/>
              </a:defRPr>
            </a:pPr>
            <a:r>
              <a:t>WAMR: Bytecode Alliance wasm-micro-runtime (execution-only mode)</a:t>
            </a:r>
          </a:p>
          <a:p>
            <a:pPr>
              <a:spcAft>
                <a:spcPts val="300"/>
              </a:spcAft>
              <a:defRPr sz="1100">
                <a:solidFill>
                  <a:srgbClr val="475569"/>
                </a:solidFill>
                <a:latin typeface="Calibri"/>
              </a:defRPr>
            </a:pPr>
            <a:r>
              <a:t>Android Memory: developer.android.com/Debug.MemoryInfo + /proc/self/status</a:t>
            </a:r>
          </a:p>
          <a:p>
            <a:pPr>
              <a:spcAft>
                <a:spcPts val="300"/>
              </a:spcAft>
              <a:defRPr sz="1100">
                <a:solidFill>
                  <a:srgbClr val="475569"/>
                </a:solidFill>
                <a:latin typeface="Calibri"/>
              </a:defRPr>
            </a:pPr>
            <a:r>
              <a:t>Edge Computing: BOINC, Folding@home, fog computing, cloudlet patterns</a:t>
            </a:r>
          </a:p>
          <a:p>
            <a:pPr>
              <a:spcAft>
                <a:spcPts val="300"/>
              </a:spcAft>
              <a:defRPr sz="1100">
                <a:solidFill>
                  <a:srgbClr val="475569"/>
                </a:solidFill>
                <a:latin typeface="Calibri"/>
              </a:defRPr>
            </a:pPr>
            <a:r>
              <a:t>Security: Seccomp-BPF filters, Linux namespaces, WASM linear memory model</a:t>
            </a:r>
          </a:p>
        </p:txBody>
      </p:sp>
      <p:sp>
        <p:nvSpPr>
          <p:cNvPr id="18" name="Rounded Rectangle 17"/>
          <p:cNvSpPr/>
          <p:nvPr/>
        </p:nvSpPr>
        <p:spPr>
          <a:xfrm>
            <a:off x="457200" y="3749039"/>
            <a:ext cx="548640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749039"/>
            <a:ext cx="5486400" cy="457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3858767"/>
            <a:ext cx="5157216" cy="320040"/>
          </a:xfrm>
          <a:prstGeom prst="rect">
            <a:avLst/>
          </a:prstGeom>
          <a:noFill/>
        </p:spPr>
        <p:txBody>
          <a:bodyPr wrap="square">
            <a:spAutoFit/>
          </a:bodyPr>
          <a:lstStyle/>
          <a:p>
            <a:pPr>
              <a:defRPr sz="1300" b="1">
                <a:solidFill>
                  <a:srgbClr val="14B8A6"/>
                </a:solidFill>
                <a:latin typeface="Calibri"/>
              </a:defRPr>
            </a:pPr>
            <a:r>
              <a:t>Short-Term Roadmap</a:t>
            </a:r>
          </a:p>
        </p:txBody>
      </p:sp>
      <p:sp>
        <p:nvSpPr>
          <p:cNvPr id="21" name="TextBox 20"/>
          <p:cNvSpPr txBox="1"/>
          <p:nvPr/>
        </p:nvSpPr>
        <p:spPr>
          <a:xfrm>
            <a:off x="621792" y="4187951"/>
            <a:ext cx="5157216" cy="1920240"/>
          </a:xfrm>
          <a:prstGeom prst="rect">
            <a:avLst/>
          </a:prstGeom>
          <a:noFill/>
        </p:spPr>
        <p:txBody>
          <a:bodyPr wrap="square">
            <a:spAutoFit/>
          </a:bodyPr>
          <a:lstStyle/>
          <a:p>
            <a:pPr>
              <a:spcAft>
                <a:spcPts val="300"/>
              </a:spcAft>
              <a:defRPr sz="1100">
                <a:solidFill>
                  <a:srgbClr val="475569"/>
                </a:solidFill>
                <a:latin typeface="Calibri"/>
              </a:defRPr>
            </a:pPr>
            <a:r>
              <a:t>Multi-language runtime: Rust, Go, C++ compilation targets</a:t>
            </a:r>
          </a:p>
          <a:p>
            <a:pPr>
              <a:spcAft>
                <a:spcPts val="300"/>
              </a:spcAft>
              <a:defRPr sz="1100">
                <a:solidFill>
                  <a:srgbClr val="475569"/>
                </a:solidFill>
                <a:latin typeface="Calibri"/>
              </a:defRPr>
            </a:pPr>
            <a:r>
              <a:t>Event-driven activation (replace time.Sleep(2s) polling)</a:t>
            </a:r>
          </a:p>
          <a:p>
            <a:pPr>
              <a:spcAft>
                <a:spcPts val="300"/>
              </a:spcAft>
              <a:defRPr sz="1100">
                <a:solidFill>
                  <a:srgbClr val="475569"/>
                </a:solidFill>
                <a:latin typeface="Calibri"/>
              </a:defRPr>
            </a:pPr>
            <a:r>
              <a:t>PostgreSQL connection pooling for high concurrency</a:t>
            </a:r>
          </a:p>
          <a:p>
            <a:pPr>
              <a:spcAft>
                <a:spcPts val="300"/>
              </a:spcAft>
              <a:defRPr sz="1100">
                <a:solidFill>
                  <a:srgbClr val="475569"/>
                </a:solidFill>
                <a:latin typeface="Calibri"/>
              </a:defRPr>
            </a:pPr>
            <a:r>
              <a:t>WASM streaming: chunk-based binary delivery for large modules</a:t>
            </a:r>
          </a:p>
          <a:p>
            <a:pPr>
              <a:spcAft>
                <a:spcPts val="300"/>
              </a:spcAft>
              <a:defRPr sz="1100">
                <a:solidFill>
                  <a:srgbClr val="475569"/>
                </a:solidFill>
                <a:latin typeface="Calibri"/>
              </a:defRPr>
            </a:pPr>
            <a:r>
              <a:t>Production observability: OpenTelemetry traces + Prometheus metrics</a:t>
            </a:r>
          </a:p>
          <a:p>
            <a:pPr>
              <a:spcAft>
                <a:spcPts val="300"/>
              </a:spcAft>
              <a:defRPr sz="1100">
                <a:solidFill>
                  <a:srgbClr val="475569"/>
                </a:solidFill>
                <a:latin typeface="Calibri"/>
              </a:defRPr>
            </a:pPr>
            <a:r>
              <a:t>iOS consumer app (WAMR on Swift/Objective-C)</a:t>
            </a:r>
          </a:p>
        </p:txBody>
      </p:sp>
      <p:sp>
        <p:nvSpPr>
          <p:cNvPr id="22" name="Rounded Rectangle 21"/>
          <p:cNvSpPr/>
          <p:nvPr/>
        </p:nvSpPr>
        <p:spPr>
          <a:xfrm>
            <a:off x="6217920" y="3749039"/>
            <a:ext cx="548640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3749039"/>
            <a:ext cx="54864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3858767"/>
            <a:ext cx="5157216" cy="320040"/>
          </a:xfrm>
          <a:prstGeom prst="rect">
            <a:avLst/>
          </a:prstGeom>
          <a:noFill/>
        </p:spPr>
        <p:txBody>
          <a:bodyPr wrap="square">
            <a:spAutoFit/>
          </a:bodyPr>
          <a:lstStyle/>
          <a:p>
            <a:pPr>
              <a:defRPr sz="1300" b="1">
                <a:solidFill>
                  <a:srgbClr val="F59E0B"/>
                </a:solidFill>
                <a:latin typeface="Calibri"/>
              </a:defRPr>
            </a:pPr>
            <a:r>
              <a:t>Long-Term Vision</a:t>
            </a:r>
          </a:p>
        </p:txBody>
      </p:sp>
      <p:sp>
        <p:nvSpPr>
          <p:cNvPr id="25" name="TextBox 24"/>
          <p:cNvSpPr txBox="1"/>
          <p:nvPr/>
        </p:nvSpPr>
        <p:spPr>
          <a:xfrm>
            <a:off x="6382512" y="4187951"/>
            <a:ext cx="5157216" cy="1920240"/>
          </a:xfrm>
          <a:prstGeom prst="rect">
            <a:avLst/>
          </a:prstGeom>
          <a:noFill/>
        </p:spPr>
        <p:txBody>
          <a:bodyPr wrap="square">
            <a:spAutoFit/>
          </a:bodyPr>
          <a:lstStyle/>
          <a:p>
            <a:pPr>
              <a:spcAft>
                <a:spcPts val="300"/>
              </a:spcAft>
              <a:defRPr sz="1100">
                <a:solidFill>
                  <a:srgbClr val="475569"/>
                </a:solidFill>
                <a:latin typeface="Calibri"/>
              </a:defRPr>
            </a:pPr>
            <a:r>
              <a:t>Geo-distributed queue routing (edge-aware dispatch)</a:t>
            </a:r>
          </a:p>
          <a:p>
            <a:pPr>
              <a:spcAft>
                <a:spcPts val="300"/>
              </a:spcAft>
              <a:defRPr sz="1100">
                <a:solidFill>
                  <a:srgbClr val="475569"/>
                </a:solidFill>
                <a:latin typeface="Calibri"/>
              </a:defRPr>
            </a:pPr>
            <a:r>
              <a:t>Incentive model: crypto/credits for contributing compute</a:t>
            </a:r>
          </a:p>
          <a:p>
            <a:pPr>
              <a:spcAft>
                <a:spcPts val="300"/>
              </a:spcAft>
              <a:defRPr sz="1100">
                <a:solidFill>
                  <a:srgbClr val="475569"/>
                </a:solidFill>
                <a:latin typeface="Calibri"/>
              </a:defRPr>
            </a:pPr>
            <a:r>
              <a:t>WASM Component Model: composable function chains</a:t>
            </a:r>
          </a:p>
          <a:p>
            <a:pPr>
              <a:spcAft>
                <a:spcPts val="300"/>
              </a:spcAft>
              <a:defRPr sz="1100">
                <a:solidFill>
                  <a:srgbClr val="475569"/>
                </a:solidFill>
                <a:latin typeface="Calibri"/>
              </a:defRPr>
            </a:pPr>
            <a:r>
              <a:t>Enterprise multi-tenancy with resource isolation guarantees</a:t>
            </a:r>
          </a:p>
          <a:p>
            <a:pPr>
              <a:spcAft>
                <a:spcPts val="300"/>
              </a:spcAft>
              <a:defRPr sz="1100">
                <a:solidFill>
                  <a:srgbClr val="475569"/>
                </a:solidFill>
                <a:latin typeface="Calibri"/>
              </a:defRPr>
            </a:pPr>
            <a:r>
              <a:t>Warm-start caching: keep modules instantiated for repeat calls</a:t>
            </a:r>
          </a:p>
          <a:p>
            <a:pPr>
              <a:spcAft>
                <a:spcPts val="300"/>
              </a:spcAft>
              <a:defRPr sz="1100">
                <a:solidFill>
                  <a:srgbClr val="475569"/>
                </a:solidFill>
                <a:latin typeface="Calibri"/>
              </a:defRPr>
            </a:pPr>
            <a:r>
              <a:t>Real-time memory tracking: sampler_loop, trend_analyzer, OOM predictor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